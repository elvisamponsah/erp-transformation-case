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the board approved a replacement. Our job is to tell them what go-live actually means, what we refuse to put in it, and how leadership keeps seeing numbers throughout. The one line to remember: the date is fixed, scope is the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challenged: yes, the 20-year-old system is genuinely hard to maintain. But if we replace it and still don't capture labor to the job, we will have spent the budget and still not be able to answer why an order lost money. The ERP is the enabler. It is not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right-hand column is the important half. Objectives everyone agrees with are easy. The non-objectives are where the program is actually won, because each one has a sponsor who will ask for it in month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pushback that at 200 people a big bang is manageable. Answer: it is manageable right up until it isn't, and the failure mode is five quiet loading docks. Site-phasing costs us roughly nine months of dual maintenance and one interface. That is the insurance premium, and it is cheap against a stopped shipment on capital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rehearsal points matter most. Three mock loads and two mock cutovers is not padding: it is the only reason we can promise a close. If someone asks where to save money, it is not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to rank them: data quality is the one that slips the date, SME capacity is the one that quietly decides whether the date was ever real, and cutover is the one that reaches the Board. Risk 6 is the one nobody wants to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bolded Day-1 items are the ones under pressure. Time capture will be attacked as 'we can add it later' and it is the exact reason the margin problem exists. Everything on the right gets a published Phase 2 backlog with a named owner, so it reads as sequenced rather than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predictable challenge: 'we need ten years of history in the system.' Ask what decision they make with a closed job from 2011. The answer is always a report, never a transaction. Reports come from the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the Board's 'uninterrupted access' mandate directly. The warehouse is cheap relative to the program and it is the only thing that gives a consistent number across a phased rollout. Building reports inside the ERP means rebuilding them at every wave.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'can you guarantee the close?' the honest answer is: we can guarantee we will have already done it once, on real migrated data, before the month that counts. That is as close to a guarantee as this work 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Every one of these is free, and every one of them is harder to get than the budget. If we leave the room with the sponsor and the SMEs named, the program is already in better shape than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62C"/>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C25E00"/>
          </a:solidFill>
          <a:ln/>
        </p:spPr>
      </p:sp>
      <p:sp>
        <p:nvSpPr>
          <p:cNvPr id="3" name="Text 1"/>
          <p:cNvSpPr/>
          <p:nvPr/>
        </p:nvSpPr>
        <p:spPr>
          <a:xfrm>
            <a:off x="91440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C25E00"/>
                </a:solidFill>
                <a:latin typeface="Calibri" pitchFamily="34" charset="0"/>
                <a:ea typeface="Calibri" pitchFamily="34" charset="-122"/>
                <a:cs typeface="Calibri" pitchFamily="34" charset="-120"/>
              </a:rPr>
              <a:t>ALPHA MANUFACTURING GROUP</a:t>
            </a:r>
            <a:endParaRPr lang="en-US" sz="1200" dirty="0"/>
          </a:p>
        </p:txBody>
      </p:sp>
      <p:sp>
        <p:nvSpPr>
          <p:cNvPr id="4" name="Text 2"/>
          <p:cNvSpPr/>
          <p:nvPr/>
        </p:nvSpPr>
        <p:spPr>
          <a:xfrm>
            <a:off x="914400" y="2011680"/>
            <a:ext cx="10424160" cy="7772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ERP Transformation</a:t>
            </a:r>
            <a:endParaRPr lang="en-US" sz="4800" dirty="0"/>
          </a:p>
        </p:txBody>
      </p:sp>
      <p:sp>
        <p:nvSpPr>
          <p:cNvPr id="5" name="Text 3"/>
          <p:cNvSpPr/>
          <p:nvPr/>
        </p:nvSpPr>
        <p:spPr>
          <a:xfrm>
            <a:off x="914400" y="2834640"/>
            <a:ext cx="10058400" cy="365760"/>
          </a:xfrm>
          <a:prstGeom prst="rect">
            <a:avLst/>
          </a:prstGeom>
          <a:noFill/>
          <a:ln/>
        </p:spPr>
        <p:txBody>
          <a:bodyPr wrap="square" lIns="0" tIns="0" rIns="0" bIns="0" rtlCol="0" anchor="ctr"/>
          <a:lstStyle/>
          <a:p>
            <a:pPr indent="0" marL="0">
              <a:buNone/>
            </a:pPr>
            <a:r>
              <a:rPr lang="en-US" sz="1800" dirty="0">
                <a:solidFill>
                  <a:srgbClr val="CFD8DC"/>
                </a:solidFill>
                <a:latin typeface="Calibri" pitchFamily="34" charset="0"/>
                <a:ea typeface="Calibri" pitchFamily="34" charset="-122"/>
                <a:cs typeface="Calibri" pitchFamily="34" charset="-120"/>
              </a:rPr>
              <a:t>Approach, scope, and data strategy for a 12-month go-live</a:t>
            </a:r>
            <a:endParaRPr lang="en-US" sz="1800" dirty="0"/>
          </a:p>
        </p:txBody>
      </p:sp>
      <p:sp>
        <p:nvSpPr>
          <p:cNvPr id="6" name="Shape 4"/>
          <p:cNvSpPr/>
          <p:nvPr/>
        </p:nvSpPr>
        <p:spPr>
          <a:xfrm>
            <a:off x="914400" y="3520440"/>
            <a:ext cx="3108960" cy="18288"/>
          </a:xfrm>
          <a:prstGeom prst="rect">
            <a:avLst/>
          </a:prstGeom>
          <a:solidFill>
            <a:srgbClr val="6B7A82"/>
          </a:solidFill>
          <a:ln/>
        </p:spPr>
      </p:sp>
      <p:sp>
        <p:nvSpPr>
          <p:cNvPr id="7" name="Text 5"/>
          <p:cNvSpPr/>
          <p:nvPr/>
        </p:nvSpPr>
        <p:spPr>
          <a:xfrm>
            <a:off x="914400" y="3794760"/>
            <a:ext cx="7315200" cy="640080"/>
          </a:xfrm>
          <a:prstGeom prst="rect">
            <a:avLst/>
          </a:prstGeom>
          <a:noFill/>
          <a:ln/>
        </p:spPr>
        <p:txBody>
          <a:bodyPr wrap="square" lIns="0" tIns="0" rIns="0" bIns="0" rtlCol="0" anchor="ctr"/>
          <a:lstStyle/>
          <a:p>
            <a:pPr indent="0" marL="0">
              <a:lnSpc>
                <a:spcPts val="2000"/>
              </a:lnSpc>
              <a:buNone/>
            </a:pPr>
            <a:r>
              <a:rPr lang="en-US" sz="1300" b="1" dirty="0">
                <a:solidFill>
                  <a:srgbClr val="FFFFFF"/>
                </a:solidFill>
                <a:latin typeface="Calibri" pitchFamily="34" charset="0"/>
                <a:ea typeface="Calibri" pitchFamily="34" charset="-122"/>
                <a:cs typeface="Calibri" pitchFamily="34" charset="-120"/>
              </a:rPr>
              <a:t>Prepared for the Executive Team</a:t>
            </a:r>
            <a:endParaRPr lang="en-US" sz="1300" dirty="0"/>
          </a:p>
          <a:p>
            <a:pPr indent="0" marL="0">
              <a:lnSpc>
                <a:spcPts val="2000"/>
              </a:lnSpc>
              <a:buNone/>
            </a:pPr>
            <a:r>
              <a:rPr lang="en-US" sz="1300" dirty="0">
                <a:solidFill>
                  <a:srgbClr val="6B7A82"/>
                </a:solidFill>
                <a:latin typeface="Calibri" pitchFamily="34" charset="0"/>
                <a:ea typeface="Calibri" pitchFamily="34" charset="-122"/>
                <a:cs typeface="Calibri" pitchFamily="34" charset="-120"/>
              </a:rPr>
              <a:t>Program Advisory  ·  17 July 2026</a:t>
            </a:r>
            <a:endParaRPr lang="en-US" sz="1300" dirty="0"/>
          </a:p>
        </p:txBody>
      </p:sp>
      <p:sp>
        <p:nvSpPr>
          <p:cNvPr id="8" name="Text 6"/>
          <p:cNvSpPr/>
          <p:nvPr/>
        </p:nvSpPr>
        <p:spPr>
          <a:xfrm>
            <a:off x="914400" y="4937760"/>
            <a:ext cx="7315200" cy="365760"/>
          </a:xfrm>
          <a:prstGeom prst="rect">
            <a:avLst/>
          </a:prstGeom>
          <a:noFill/>
          <a:ln/>
        </p:spPr>
        <p:txBody>
          <a:bodyPr wrap="square" lIns="0" tIns="0" rIns="0" bIns="0" rtlCol="0" anchor="ctr"/>
          <a:lstStyle/>
          <a:p>
            <a:pPr indent="0" marL="0">
              <a:buNone/>
            </a:pPr>
            <a:r>
              <a:rPr lang="en-US" sz="1900" i="1" dirty="0">
                <a:solidFill>
                  <a:srgbClr val="C25E00"/>
                </a:solidFill>
                <a:latin typeface="Cambria" pitchFamily="34" charset="0"/>
                <a:ea typeface="Cambria" pitchFamily="34" charset="-122"/>
                <a:cs typeface="Cambria" pitchFamily="34" charset="-120"/>
              </a:rPr>
              <a:t>Date is fixed. Scope is the variable.</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10896" cy="310896"/>
          </a:xfrm>
          <a:prstGeom prst="rect">
            <a:avLst/>
          </a:prstGeom>
          <a:solidFill>
            <a:srgbClr val="C25E00"/>
          </a:solidFill>
          <a:ln/>
        </p:spPr>
      </p:sp>
      <p:sp>
        <p:nvSpPr>
          <p:cNvPr id="3" name="Text 1"/>
          <p:cNvSpPr/>
          <p:nvPr/>
        </p:nvSpPr>
        <p:spPr>
          <a:xfrm>
            <a:off x="548640" y="3840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p:nvPr/>
        </p:nvSpPr>
        <p:spPr>
          <a:xfrm>
            <a:off x="987552" y="347472"/>
            <a:ext cx="10607040" cy="402336"/>
          </a:xfrm>
          <a:prstGeom prst="rect">
            <a:avLst/>
          </a:prstGeom>
          <a:noFill/>
          <a:ln/>
        </p:spPr>
        <p:txBody>
          <a:bodyPr wrap="square" lIns="0" tIns="0" rIns="0" bIns="0" rtlCol="0" anchor="ctr"/>
          <a:lstStyle/>
          <a:p>
            <a:pPr algn="l" indent="0" marL="0">
              <a:buNone/>
            </a:pPr>
            <a:r>
              <a:rPr lang="en-US" sz="2700" b="1" dirty="0">
                <a:solidFill>
                  <a:srgbClr val="2B3A42"/>
                </a:solidFill>
                <a:latin typeface="Cambria" pitchFamily="34" charset="0"/>
                <a:ea typeface="Cambria" pitchFamily="34" charset="-122"/>
                <a:cs typeface="Cambria" pitchFamily="34" charset="-120"/>
              </a:rPr>
              <a:t>The age of the ERP isn't the problem</a:t>
            </a:r>
            <a:endParaRPr lang="en-US" sz="2700" dirty="0"/>
          </a:p>
        </p:txBody>
      </p:sp>
      <p:sp>
        <p:nvSpPr>
          <p:cNvPr id="5" name="Text 3"/>
          <p:cNvSpPr/>
          <p:nvPr/>
        </p:nvSpPr>
        <p:spPr>
          <a:xfrm>
            <a:off x="987552" y="786384"/>
            <a:ext cx="10607040" cy="274320"/>
          </a:xfrm>
          <a:prstGeom prst="rect">
            <a:avLst/>
          </a:prstGeom>
          <a:noFill/>
          <a:ln/>
        </p:spPr>
        <p:txBody>
          <a:bodyPr wrap="square" lIns="0" tIns="0" rIns="0" bIns="0" rtlCol="0" anchor="t"/>
          <a:lstStyle/>
          <a:p>
            <a:pPr indent="0" marL="0">
              <a:buNone/>
            </a:pPr>
            <a:r>
              <a:rPr lang="en-US" sz="1250" i="1" dirty="0">
                <a:solidFill>
                  <a:srgbClr val="6B7A82"/>
                </a:solidFill>
                <a:latin typeface="Calibri" pitchFamily="34" charset="0"/>
                <a:ea typeface="Calibri" pitchFamily="34" charset="-122"/>
                <a:cs typeface="Calibri" pitchFamily="34" charset="-120"/>
              </a:rPr>
              <a:t>It's a symptom. Here's the disease.</a:t>
            </a:r>
            <a:endParaRPr lang="en-US" sz="1250" dirty="0"/>
          </a:p>
        </p:txBody>
      </p:sp>
      <p:sp>
        <p:nvSpPr>
          <p:cNvPr id="6" name="Shape 4"/>
          <p:cNvSpPr/>
          <p:nvPr/>
        </p:nvSpPr>
        <p:spPr>
          <a:xfrm>
            <a:off x="548640" y="1417320"/>
            <a:ext cx="3474720" cy="4114800"/>
          </a:xfrm>
          <a:prstGeom prst="roundRect">
            <a:avLst>
              <a:gd name="adj" fmla="val 1579"/>
            </a:avLst>
          </a:prstGeom>
          <a:solidFill>
            <a:srgbClr val="F2F4F5"/>
          </a:solidFill>
          <a:ln w="9525">
            <a:solidFill>
              <a:srgbClr val="D6DDE0"/>
            </a:solidFill>
            <a:prstDash val="solid"/>
          </a:ln>
        </p:spPr>
      </p:sp>
      <p:sp>
        <p:nvSpPr>
          <p:cNvPr id="7" name="Text 5"/>
          <p:cNvSpPr/>
          <p:nvPr/>
        </p:nvSpPr>
        <p:spPr>
          <a:xfrm>
            <a:off x="822960" y="1691640"/>
            <a:ext cx="2926080" cy="1051560"/>
          </a:xfrm>
          <a:prstGeom prst="rect">
            <a:avLst/>
          </a:prstGeom>
          <a:noFill/>
          <a:ln/>
        </p:spPr>
        <p:txBody>
          <a:bodyPr wrap="square" lIns="0" tIns="0" rIns="0" bIns="0" rtlCol="0" anchor="ctr"/>
          <a:lstStyle/>
          <a:p>
            <a:pPr indent="0" marL="0">
              <a:buNone/>
            </a:pPr>
            <a:r>
              <a:rPr lang="en-US" sz="6600" b="1" dirty="0">
                <a:solidFill>
                  <a:srgbClr val="C25E00"/>
                </a:solidFill>
                <a:latin typeface="Cambria" pitchFamily="34" charset="0"/>
                <a:ea typeface="Cambria" pitchFamily="34" charset="-122"/>
                <a:cs typeface="Cambria" pitchFamily="34" charset="-120"/>
              </a:rPr>
              <a:t>80%</a:t>
            </a:r>
            <a:endParaRPr lang="en-US" sz="6600" dirty="0"/>
          </a:p>
        </p:txBody>
      </p:sp>
      <p:sp>
        <p:nvSpPr>
          <p:cNvPr id="8" name="Text 6"/>
          <p:cNvSpPr/>
          <p:nvPr/>
        </p:nvSpPr>
        <p:spPr>
          <a:xfrm>
            <a:off x="822960" y="2834640"/>
            <a:ext cx="2926080" cy="777240"/>
          </a:xfrm>
          <a:prstGeom prst="rect">
            <a:avLst/>
          </a:prstGeom>
          <a:noFill/>
          <a:ln/>
        </p:spPr>
        <p:txBody>
          <a:bodyPr wrap="square" lIns="0" tIns="0" rIns="0" bIns="0" rtlCol="0" anchor="t"/>
          <a:lstStyle/>
          <a:p>
            <a:pPr indent="0" marL="0">
              <a:buNone/>
            </a:pPr>
            <a:r>
              <a:rPr lang="en-US" sz="1550" b="1" dirty="0">
                <a:solidFill>
                  <a:srgbClr val="2B3A42"/>
                </a:solidFill>
                <a:latin typeface="Calibri" pitchFamily="34" charset="0"/>
                <a:ea typeface="Calibri" pitchFamily="34" charset="-122"/>
                <a:cs typeface="Calibri" pitchFamily="34" charset="-120"/>
              </a:rPr>
              <a:t>of custom orders eroded margin last year</a:t>
            </a:r>
            <a:endParaRPr lang="en-US" sz="1550" dirty="0"/>
          </a:p>
        </p:txBody>
      </p:sp>
      <p:sp>
        <p:nvSpPr>
          <p:cNvPr id="9" name="Shape 7"/>
          <p:cNvSpPr/>
          <p:nvPr/>
        </p:nvSpPr>
        <p:spPr>
          <a:xfrm>
            <a:off x="822960" y="3703320"/>
            <a:ext cx="548640" cy="18288"/>
          </a:xfrm>
          <a:prstGeom prst="rect">
            <a:avLst/>
          </a:prstGeom>
          <a:solidFill>
            <a:srgbClr val="D6DDE0"/>
          </a:solidFill>
          <a:ln/>
        </p:spPr>
      </p:sp>
      <p:sp>
        <p:nvSpPr>
          <p:cNvPr id="10" name="Text 8"/>
          <p:cNvSpPr/>
          <p:nvPr/>
        </p:nvSpPr>
        <p:spPr>
          <a:xfrm>
            <a:off x="822960" y="3886200"/>
            <a:ext cx="2926080" cy="1417320"/>
          </a:xfrm>
          <a:prstGeom prst="rect">
            <a:avLst/>
          </a:prstGeom>
          <a:noFill/>
          <a:ln/>
        </p:spPr>
        <p:txBody>
          <a:bodyPr wrap="square" lIns="0" tIns="0" rIns="0" bIns="0" rtlCol="0" anchor="t"/>
          <a:lstStyle/>
          <a:p>
            <a:pPr indent="0" marL="0">
              <a:lnSpc>
                <a:spcPts val="1700"/>
              </a:lnSpc>
              <a:buNone/>
            </a:pPr>
            <a:r>
              <a:rPr lang="en-US" sz="1250" dirty="0">
                <a:solidFill>
                  <a:srgbClr val="6B7A82"/>
                </a:solidFill>
                <a:latin typeface="Calibri" pitchFamily="34" charset="0"/>
                <a:ea typeface="Calibri" pitchFamily="34" charset="-122"/>
                <a:cs typeface="Calibri" pitchFamily="34" charset="-120"/>
              </a:rPr>
              <a:t>We find out after we've shipped. That's a data latency problem, not a pricing problem.</a:t>
            </a:r>
            <a:endParaRPr lang="en-US" sz="1250" dirty="0"/>
          </a:p>
        </p:txBody>
      </p:sp>
      <p:sp>
        <p:nvSpPr>
          <p:cNvPr id="11" name="Shape 9"/>
          <p:cNvSpPr/>
          <p:nvPr/>
        </p:nvSpPr>
        <p:spPr>
          <a:xfrm>
            <a:off x="4297680" y="1417320"/>
            <a:ext cx="3474720" cy="4114800"/>
          </a:xfrm>
          <a:prstGeom prst="roundRect">
            <a:avLst>
              <a:gd name="adj" fmla="val 1579"/>
            </a:avLst>
          </a:prstGeom>
          <a:solidFill>
            <a:srgbClr val="F2F4F5"/>
          </a:solidFill>
          <a:ln w="9525">
            <a:solidFill>
              <a:srgbClr val="D6DDE0"/>
            </a:solidFill>
            <a:prstDash val="solid"/>
          </a:ln>
        </p:spPr>
      </p:sp>
      <p:sp>
        <p:nvSpPr>
          <p:cNvPr id="12" name="Text 10"/>
          <p:cNvSpPr/>
          <p:nvPr/>
        </p:nvSpPr>
        <p:spPr>
          <a:xfrm>
            <a:off x="4572000" y="1691640"/>
            <a:ext cx="2926080" cy="1051560"/>
          </a:xfrm>
          <a:prstGeom prst="rect">
            <a:avLst/>
          </a:prstGeom>
          <a:noFill/>
          <a:ln/>
        </p:spPr>
        <p:txBody>
          <a:bodyPr wrap="square" lIns="0" tIns="0" rIns="0" bIns="0" rtlCol="0" anchor="ctr"/>
          <a:lstStyle/>
          <a:p>
            <a:pPr indent="0" marL="0">
              <a:buNone/>
            </a:pPr>
            <a:r>
              <a:rPr lang="en-US" sz="6600" b="1" dirty="0">
                <a:solidFill>
                  <a:srgbClr val="C25E00"/>
                </a:solidFill>
                <a:latin typeface="Cambria" pitchFamily="34" charset="0"/>
                <a:ea typeface="Cambria" pitchFamily="34" charset="-122"/>
                <a:cs typeface="Cambria" pitchFamily="34" charset="-120"/>
              </a:rPr>
              <a:t>2</a:t>
            </a:r>
            <a:endParaRPr lang="en-US" sz="6600" dirty="0"/>
          </a:p>
        </p:txBody>
      </p:sp>
      <p:sp>
        <p:nvSpPr>
          <p:cNvPr id="13" name="Text 11"/>
          <p:cNvSpPr/>
          <p:nvPr/>
        </p:nvSpPr>
        <p:spPr>
          <a:xfrm>
            <a:off x="4572000" y="2834640"/>
            <a:ext cx="2926080" cy="777240"/>
          </a:xfrm>
          <a:prstGeom prst="rect">
            <a:avLst/>
          </a:prstGeom>
          <a:noFill/>
          <a:ln/>
        </p:spPr>
        <p:txBody>
          <a:bodyPr wrap="square" lIns="0" tIns="0" rIns="0" bIns="0" rtlCol="0" anchor="t"/>
          <a:lstStyle/>
          <a:p>
            <a:pPr indent="0" marL="0">
              <a:buNone/>
            </a:pPr>
            <a:r>
              <a:rPr lang="en-US" sz="1550" b="1" dirty="0">
                <a:solidFill>
                  <a:srgbClr val="2B3A42"/>
                </a:solidFill>
                <a:latin typeface="Calibri" pitchFamily="34" charset="0"/>
                <a:ea typeface="Calibri" pitchFamily="34" charset="-122"/>
                <a:cs typeface="Calibri" pitchFamily="34" charset="-120"/>
              </a:rPr>
              <a:t>systems of record for the same BOM</a:t>
            </a:r>
            <a:endParaRPr lang="en-US" sz="1550" dirty="0"/>
          </a:p>
        </p:txBody>
      </p:sp>
      <p:sp>
        <p:nvSpPr>
          <p:cNvPr id="14" name="Shape 12"/>
          <p:cNvSpPr/>
          <p:nvPr/>
        </p:nvSpPr>
        <p:spPr>
          <a:xfrm>
            <a:off x="4572000" y="3703320"/>
            <a:ext cx="548640" cy="18288"/>
          </a:xfrm>
          <a:prstGeom prst="rect">
            <a:avLst/>
          </a:prstGeom>
          <a:solidFill>
            <a:srgbClr val="D6DDE0"/>
          </a:solidFill>
          <a:ln/>
        </p:spPr>
      </p:sp>
      <p:sp>
        <p:nvSpPr>
          <p:cNvPr id="15" name="Text 13"/>
          <p:cNvSpPr/>
          <p:nvPr/>
        </p:nvSpPr>
        <p:spPr>
          <a:xfrm>
            <a:off x="4572000" y="3886200"/>
            <a:ext cx="2926080" cy="1417320"/>
          </a:xfrm>
          <a:prstGeom prst="rect">
            <a:avLst/>
          </a:prstGeom>
          <a:noFill/>
          <a:ln/>
        </p:spPr>
        <p:txBody>
          <a:bodyPr wrap="square" lIns="0" tIns="0" rIns="0" bIns="0" rtlCol="0" anchor="t"/>
          <a:lstStyle/>
          <a:p>
            <a:pPr indent="0" marL="0">
              <a:lnSpc>
                <a:spcPts val="1700"/>
              </a:lnSpc>
              <a:buNone/>
            </a:pPr>
            <a:r>
              <a:rPr lang="en-US" sz="1250" dirty="0">
                <a:solidFill>
                  <a:srgbClr val="6B7A82"/>
                </a:solidFill>
                <a:latin typeface="Calibri" pitchFamily="34" charset="0"/>
                <a:ea typeface="Calibri" pitchFamily="34" charset="-122"/>
                <a:cs typeface="Calibri" pitchFamily="34" charset="-120"/>
              </a:rPr>
              <a:t>A nightly sync we already know is fragile sits between engineering and the shop floor.</a:t>
            </a:r>
            <a:endParaRPr lang="en-US" sz="1250" dirty="0"/>
          </a:p>
        </p:txBody>
      </p:sp>
      <p:sp>
        <p:nvSpPr>
          <p:cNvPr id="16" name="Shape 14"/>
          <p:cNvSpPr/>
          <p:nvPr/>
        </p:nvSpPr>
        <p:spPr>
          <a:xfrm>
            <a:off x="8046720" y="1417320"/>
            <a:ext cx="3474720" cy="4114800"/>
          </a:xfrm>
          <a:prstGeom prst="roundRect">
            <a:avLst>
              <a:gd name="adj" fmla="val 1579"/>
            </a:avLst>
          </a:prstGeom>
          <a:solidFill>
            <a:srgbClr val="F2F4F5"/>
          </a:solidFill>
          <a:ln w="9525">
            <a:solidFill>
              <a:srgbClr val="D6DDE0"/>
            </a:solidFill>
            <a:prstDash val="solid"/>
          </a:ln>
        </p:spPr>
      </p:sp>
      <p:sp>
        <p:nvSpPr>
          <p:cNvPr id="17" name="Text 15"/>
          <p:cNvSpPr/>
          <p:nvPr/>
        </p:nvSpPr>
        <p:spPr>
          <a:xfrm>
            <a:off x="8321040" y="1691640"/>
            <a:ext cx="2926080" cy="1051560"/>
          </a:xfrm>
          <a:prstGeom prst="rect">
            <a:avLst/>
          </a:prstGeom>
          <a:noFill/>
          <a:ln/>
        </p:spPr>
        <p:txBody>
          <a:bodyPr wrap="square" lIns="0" tIns="0" rIns="0" bIns="0" rtlCol="0" anchor="ctr"/>
          <a:lstStyle/>
          <a:p>
            <a:pPr indent="0" marL="0">
              <a:buNone/>
            </a:pPr>
            <a:r>
              <a:rPr lang="en-US" sz="6600" b="1" dirty="0">
                <a:solidFill>
                  <a:srgbClr val="C25E00"/>
                </a:solidFill>
                <a:latin typeface="Cambria" pitchFamily="34" charset="0"/>
                <a:ea typeface="Cambria" pitchFamily="34" charset="-122"/>
                <a:cs typeface="Cambria" pitchFamily="34" charset="-120"/>
              </a:rPr>
              <a:t>0</a:t>
            </a:r>
            <a:endParaRPr lang="en-US" sz="6600" dirty="0"/>
          </a:p>
        </p:txBody>
      </p:sp>
      <p:sp>
        <p:nvSpPr>
          <p:cNvPr id="18" name="Text 16"/>
          <p:cNvSpPr/>
          <p:nvPr/>
        </p:nvSpPr>
        <p:spPr>
          <a:xfrm>
            <a:off x="8321040" y="2834640"/>
            <a:ext cx="2926080" cy="777240"/>
          </a:xfrm>
          <a:prstGeom prst="rect">
            <a:avLst/>
          </a:prstGeom>
          <a:noFill/>
          <a:ln/>
        </p:spPr>
        <p:txBody>
          <a:bodyPr wrap="square" lIns="0" tIns="0" rIns="0" bIns="0" rtlCol="0" anchor="t"/>
          <a:lstStyle/>
          <a:p>
            <a:pPr indent="0" marL="0">
              <a:buNone/>
            </a:pPr>
            <a:r>
              <a:rPr lang="en-US" sz="1550" b="1" dirty="0">
                <a:solidFill>
                  <a:srgbClr val="2B3A42"/>
                </a:solidFill>
                <a:latin typeface="Calibri" pitchFamily="34" charset="0"/>
                <a:ea typeface="Calibri" pitchFamily="34" charset="-122"/>
                <a:cs typeface="Calibri" pitchFamily="34" charset="-120"/>
              </a:rPr>
              <a:t>reliable contribution margin views</a:t>
            </a:r>
            <a:endParaRPr lang="en-US" sz="1550" dirty="0"/>
          </a:p>
        </p:txBody>
      </p:sp>
      <p:sp>
        <p:nvSpPr>
          <p:cNvPr id="19" name="Shape 17"/>
          <p:cNvSpPr/>
          <p:nvPr/>
        </p:nvSpPr>
        <p:spPr>
          <a:xfrm>
            <a:off x="8321040" y="3703320"/>
            <a:ext cx="548640" cy="18288"/>
          </a:xfrm>
          <a:prstGeom prst="rect">
            <a:avLst/>
          </a:prstGeom>
          <a:solidFill>
            <a:srgbClr val="D6DDE0"/>
          </a:solidFill>
          <a:ln/>
        </p:spPr>
      </p:sp>
      <p:sp>
        <p:nvSpPr>
          <p:cNvPr id="20" name="Text 18"/>
          <p:cNvSpPr/>
          <p:nvPr/>
        </p:nvSpPr>
        <p:spPr>
          <a:xfrm>
            <a:off x="8321040" y="3886200"/>
            <a:ext cx="2926080" cy="1417320"/>
          </a:xfrm>
          <a:prstGeom prst="rect">
            <a:avLst/>
          </a:prstGeom>
          <a:noFill/>
          <a:ln/>
        </p:spPr>
        <p:txBody>
          <a:bodyPr wrap="square" lIns="0" tIns="0" rIns="0" bIns="0" rtlCol="0" anchor="t"/>
          <a:lstStyle/>
          <a:p>
            <a:pPr indent="0" marL="0">
              <a:lnSpc>
                <a:spcPts val="1700"/>
              </a:lnSpc>
              <a:buNone/>
            </a:pPr>
            <a:r>
              <a:rPr lang="en-US" sz="1250" dirty="0">
                <a:solidFill>
                  <a:srgbClr val="6B7A82"/>
                </a:solidFill>
                <a:latin typeface="Calibri" pitchFamily="34" charset="0"/>
                <a:ea typeface="Calibri" pitchFamily="34" charset="-122"/>
                <a:cs typeface="Calibri" pitchFamily="34" charset="-120"/>
              </a:rPr>
              <a:t>Labor isn't tracked to the job, so job cost can't be trusted, so nobody owns margin.</a:t>
            </a:r>
            <a:endParaRPr lang="en-US" sz="1250" dirty="0"/>
          </a:p>
        </p:txBody>
      </p:sp>
      <p:sp>
        <p:nvSpPr>
          <p:cNvPr id="21" name="Shape 19"/>
          <p:cNvSpPr/>
          <p:nvPr/>
        </p:nvSpPr>
        <p:spPr>
          <a:xfrm>
            <a:off x="548640" y="5715000"/>
            <a:ext cx="11064240" cy="548640"/>
          </a:xfrm>
          <a:prstGeom prst="roundRect">
            <a:avLst>
              <a:gd name="adj" fmla="val 10000"/>
            </a:avLst>
          </a:prstGeom>
          <a:solidFill>
            <a:srgbClr val="2B3A42"/>
          </a:solidFill>
          <a:ln/>
        </p:spPr>
      </p:sp>
      <p:sp>
        <p:nvSpPr>
          <p:cNvPr id="22" name="Text 20"/>
          <p:cNvSpPr/>
          <p:nvPr/>
        </p:nvSpPr>
        <p:spPr>
          <a:xfrm>
            <a:off x="822960" y="5715000"/>
            <a:ext cx="1051560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new ERP fixes none of this by itself. One system of record, labor on the job, and reporting we own is what fixes it.</a:t>
            </a:r>
            <a:endParaRPr lang="en-US" sz="1400" dirty="0"/>
          </a:p>
        </p:txBody>
      </p:sp>
      <p:sp>
        <p:nvSpPr>
          <p:cNvPr id="23" name="Text 21"/>
          <p:cNvSpPr/>
          <p:nvPr/>
        </p:nvSpPr>
        <p:spPr>
          <a:xfrm>
            <a:off x="548640" y="6419088"/>
            <a:ext cx="5486400" cy="228600"/>
          </a:xfrm>
          <a:prstGeom prst="rect">
            <a:avLst/>
          </a:prstGeom>
          <a:noFill/>
          <a:ln/>
        </p:spPr>
        <p:txBody>
          <a:bodyPr wrap="square" lIns="0" tIns="0" rIns="0" bIns="0" rtlCol="0" anchor="ctr"/>
          <a:lstStyle/>
          <a:p>
            <a:pPr indent="0" marL="0">
              <a:buNone/>
            </a:pPr>
            <a:r>
              <a:rPr lang="en-US" sz="850" dirty="0">
                <a:solidFill>
                  <a:srgbClr val="6B7A82"/>
                </a:solidFill>
                <a:latin typeface="Calibri" pitchFamily="34" charset="0"/>
                <a:ea typeface="Calibri" pitchFamily="34" charset="-122"/>
                <a:cs typeface="Calibri" pitchFamily="34" charset="-120"/>
              </a:rPr>
              <a:t>AMG ERP Transformation  |  Confidential</a:t>
            </a:r>
            <a:endParaRPr lang="en-US" sz="850" dirty="0"/>
          </a:p>
        </p:txBody>
      </p:sp>
      <p:sp>
        <p:nvSpPr>
          <p:cNvPr id="24" name="Text 22"/>
          <p:cNvSpPr/>
          <p:nvPr/>
        </p:nvSpPr>
        <p:spPr>
          <a:xfrm>
            <a:off x="11064240" y="6419088"/>
            <a:ext cx="548640" cy="228600"/>
          </a:xfrm>
          <a:prstGeom prst="rect">
            <a:avLst/>
          </a:prstGeom>
          <a:noFill/>
          <a:ln/>
        </p:spPr>
        <p:txBody>
          <a:bodyPr wrap="square" lIns="0" tIns="0" rIns="0" bIns="0" rtlCol="0" anchor="ctr"/>
          <a:lstStyle/>
          <a:p>
            <a:pPr algn="r" indent="0" marL="0">
              <a:buNone/>
            </a:pPr>
            <a:r>
              <a:rPr lang="en-US" sz="850" dirty="0">
                <a:solidFill>
                  <a:srgbClr val="6B7A82"/>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10896" cy="310896"/>
          </a:xfrm>
          <a:prstGeom prst="rect">
            <a:avLst/>
          </a:prstGeom>
          <a:solidFill>
            <a:srgbClr val="C25E00"/>
          </a:solidFill>
          <a:ln/>
        </p:spPr>
      </p:sp>
      <p:sp>
        <p:nvSpPr>
          <p:cNvPr id="3" name="Text 1"/>
          <p:cNvSpPr/>
          <p:nvPr/>
        </p:nvSpPr>
        <p:spPr>
          <a:xfrm>
            <a:off x="548640" y="3840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 name="Text 2"/>
          <p:cNvSpPr/>
          <p:nvPr/>
        </p:nvSpPr>
        <p:spPr>
          <a:xfrm>
            <a:off x="987552" y="347472"/>
            <a:ext cx="10607040" cy="402336"/>
          </a:xfrm>
          <a:prstGeom prst="rect">
            <a:avLst/>
          </a:prstGeom>
          <a:noFill/>
          <a:ln/>
        </p:spPr>
        <p:txBody>
          <a:bodyPr wrap="square" lIns="0" tIns="0" rIns="0" bIns="0" rtlCol="0" anchor="ctr"/>
          <a:lstStyle/>
          <a:p>
            <a:pPr algn="l" indent="0" marL="0">
              <a:buNone/>
            </a:pPr>
            <a:r>
              <a:rPr lang="en-US" sz="2700" b="1" dirty="0">
                <a:solidFill>
                  <a:srgbClr val="2B3A42"/>
                </a:solidFill>
                <a:latin typeface="Cambria" pitchFamily="34" charset="0"/>
                <a:ea typeface="Cambria" pitchFamily="34" charset="-122"/>
                <a:cs typeface="Cambria" pitchFamily="34" charset="-120"/>
              </a:rPr>
              <a:t>What we'll be judged on in 18 months</a:t>
            </a:r>
            <a:endParaRPr lang="en-US" sz="2700" dirty="0"/>
          </a:p>
        </p:txBody>
      </p:sp>
      <p:sp>
        <p:nvSpPr>
          <p:cNvPr id="5" name="Shape 3"/>
          <p:cNvSpPr/>
          <p:nvPr/>
        </p:nvSpPr>
        <p:spPr>
          <a:xfrm>
            <a:off x="566928" y="1344168"/>
            <a:ext cx="457200" cy="457200"/>
          </a:xfrm>
          <a:prstGeom prst="ellipse">
            <a:avLst/>
          </a:prstGeom>
          <a:solidFill>
            <a:srgbClr val="C25E00"/>
          </a:solidFill>
          <a:ln/>
        </p:spPr>
      </p:sp>
      <p:sp>
        <p:nvSpPr>
          <p:cNvPr id="6" name="Text 4"/>
          <p:cNvSpPr/>
          <p:nvPr/>
        </p:nvSpPr>
        <p:spPr>
          <a:xfrm>
            <a:off x="566928" y="13441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34440" y="1289304"/>
            <a:ext cx="2743200" cy="292608"/>
          </a:xfrm>
          <a:prstGeom prst="rect">
            <a:avLst/>
          </a:prstGeom>
          <a:noFill/>
          <a:ln/>
        </p:spPr>
        <p:txBody>
          <a:bodyPr wrap="square" lIns="0" tIns="0" rIns="0" bIns="0" rtlCol="0" anchor="ctr"/>
          <a:lstStyle/>
          <a:p>
            <a:pPr indent="0" marL="0">
              <a:buNone/>
            </a:pPr>
            <a:r>
              <a:rPr lang="en-US" sz="1550" b="1" dirty="0">
                <a:solidFill>
                  <a:srgbClr val="2B3A42"/>
                </a:solidFill>
                <a:latin typeface="Calibri" pitchFamily="34" charset="0"/>
                <a:ea typeface="Calibri" pitchFamily="34" charset="-122"/>
                <a:cs typeface="Calibri" pitchFamily="34" charset="-120"/>
              </a:rPr>
              <a:t>Margin transparency</a:t>
            </a:r>
            <a:endParaRPr lang="en-US" sz="1550" dirty="0"/>
          </a:p>
        </p:txBody>
      </p:sp>
      <p:sp>
        <p:nvSpPr>
          <p:cNvPr id="8" name="Text 6"/>
          <p:cNvSpPr/>
          <p:nvPr/>
        </p:nvSpPr>
        <p:spPr>
          <a:xfrm>
            <a:off x="1234440" y="1600200"/>
            <a:ext cx="6035040" cy="310896"/>
          </a:xfrm>
          <a:prstGeom prst="rect">
            <a:avLst/>
          </a:prstGeom>
          <a:noFill/>
          <a:ln/>
        </p:spPr>
        <p:txBody>
          <a:bodyPr wrap="square" lIns="0" tIns="0" rIns="0" bIns="0" rtlCol="0" anchor="t"/>
          <a:lstStyle/>
          <a:p>
            <a:pPr indent="0" marL="0">
              <a:buNone/>
            </a:pPr>
            <a:r>
              <a:rPr lang="en-US" sz="1250" dirty="0">
                <a:solidFill>
                  <a:srgbClr val="6B7A82"/>
                </a:solidFill>
                <a:latin typeface="Calibri" pitchFamily="34" charset="0"/>
                <a:ea typeface="Calibri" pitchFamily="34" charset="-122"/>
                <a:cs typeface="Calibri" pitchFamily="34" charset="-120"/>
              </a:rPr>
              <a:t>Quoted vs. actual contribution margin per job, visible while the job is still open.</a:t>
            </a:r>
            <a:endParaRPr lang="en-US" sz="1250" dirty="0"/>
          </a:p>
        </p:txBody>
      </p:sp>
      <p:sp>
        <p:nvSpPr>
          <p:cNvPr id="9" name="Shape 7"/>
          <p:cNvSpPr/>
          <p:nvPr/>
        </p:nvSpPr>
        <p:spPr>
          <a:xfrm>
            <a:off x="1234440" y="2020824"/>
            <a:ext cx="6035040" cy="9144"/>
          </a:xfrm>
          <a:prstGeom prst="rect">
            <a:avLst/>
          </a:prstGeom>
          <a:solidFill>
            <a:srgbClr val="D6DDE0"/>
          </a:solidFill>
          <a:ln/>
        </p:spPr>
      </p:sp>
      <p:sp>
        <p:nvSpPr>
          <p:cNvPr id="10" name="Shape 8"/>
          <p:cNvSpPr/>
          <p:nvPr/>
        </p:nvSpPr>
        <p:spPr>
          <a:xfrm>
            <a:off x="566928" y="2212848"/>
            <a:ext cx="457200" cy="457200"/>
          </a:xfrm>
          <a:prstGeom prst="ellipse">
            <a:avLst/>
          </a:prstGeom>
          <a:solidFill>
            <a:srgbClr val="C25E00"/>
          </a:solidFill>
          <a:ln/>
        </p:spPr>
      </p:sp>
      <p:sp>
        <p:nvSpPr>
          <p:cNvPr id="11" name="Text 9"/>
          <p:cNvSpPr/>
          <p:nvPr/>
        </p:nvSpPr>
        <p:spPr>
          <a:xfrm>
            <a:off x="566928" y="22128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234440" y="2157984"/>
            <a:ext cx="2743200" cy="292608"/>
          </a:xfrm>
          <a:prstGeom prst="rect">
            <a:avLst/>
          </a:prstGeom>
          <a:noFill/>
          <a:ln/>
        </p:spPr>
        <p:txBody>
          <a:bodyPr wrap="square" lIns="0" tIns="0" rIns="0" bIns="0" rtlCol="0" anchor="ctr"/>
          <a:lstStyle/>
          <a:p>
            <a:pPr indent="0" marL="0">
              <a:buNone/>
            </a:pPr>
            <a:r>
              <a:rPr lang="en-US" sz="1550" b="1" dirty="0">
                <a:solidFill>
                  <a:srgbClr val="2B3A42"/>
                </a:solidFill>
                <a:latin typeface="Calibri" pitchFamily="34" charset="0"/>
                <a:ea typeface="Calibri" pitchFamily="34" charset="-122"/>
                <a:cs typeface="Calibri" pitchFamily="34" charset="-120"/>
              </a:rPr>
              <a:t>One BOM</a:t>
            </a:r>
            <a:endParaRPr lang="en-US" sz="1550" dirty="0"/>
          </a:p>
        </p:txBody>
      </p:sp>
      <p:sp>
        <p:nvSpPr>
          <p:cNvPr id="13" name="Text 11"/>
          <p:cNvSpPr/>
          <p:nvPr/>
        </p:nvSpPr>
        <p:spPr>
          <a:xfrm>
            <a:off x="1234440" y="2468880"/>
            <a:ext cx="6035040" cy="310896"/>
          </a:xfrm>
          <a:prstGeom prst="rect">
            <a:avLst/>
          </a:prstGeom>
          <a:noFill/>
          <a:ln/>
        </p:spPr>
        <p:txBody>
          <a:bodyPr wrap="square" lIns="0" tIns="0" rIns="0" bIns="0" rtlCol="0" anchor="t"/>
          <a:lstStyle/>
          <a:p>
            <a:pPr indent="0" marL="0">
              <a:buNone/>
            </a:pPr>
            <a:r>
              <a:rPr lang="en-US" sz="1250" dirty="0">
                <a:solidFill>
                  <a:srgbClr val="6B7A82"/>
                </a:solidFill>
                <a:latin typeface="Calibri" pitchFamily="34" charset="0"/>
                <a:ea typeface="Calibri" pitchFamily="34" charset="-122"/>
                <a:cs typeface="Calibri" pitchFamily="34" charset="-120"/>
              </a:rPr>
              <a:t>Engineering and manufacturing read the same record. The nightly sync is retired, not improved.</a:t>
            </a:r>
            <a:endParaRPr lang="en-US" sz="1250" dirty="0"/>
          </a:p>
        </p:txBody>
      </p:sp>
      <p:sp>
        <p:nvSpPr>
          <p:cNvPr id="14" name="Shape 12"/>
          <p:cNvSpPr/>
          <p:nvPr/>
        </p:nvSpPr>
        <p:spPr>
          <a:xfrm>
            <a:off x="1234440" y="2889504"/>
            <a:ext cx="6035040" cy="9144"/>
          </a:xfrm>
          <a:prstGeom prst="rect">
            <a:avLst/>
          </a:prstGeom>
          <a:solidFill>
            <a:srgbClr val="D6DDE0"/>
          </a:solidFill>
          <a:ln/>
        </p:spPr>
      </p:sp>
      <p:sp>
        <p:nvSpPr>
          <p:cNvPr id="15" name="Shape 13"/>
          <p:cNvSpPr/>
          <p:nvPr/>
        </p:nvSpPr>
        <p:spPr>
          <a:xfrm>
            <a:off x="566928" y="3081528"/>
            <a:ext cx="457200" cy="457200"/>
          </a:xfrm>
          <a:prstGeom prst="ellipse">
            <a:avLst/>
          </a:prstGeom>
          <a:solidFill>
            <a:srgbClr val="C25E00"/>
          </a:solidFill>
          <a:ln/>
        </p:spPr>
      </p:sp>
      <p:sp>
        <p:nvSpPr>
          <p:cNvPr id="16" name="Text 14"/>
          <p:cNvSpPr/>
          <p:nvPr/>
        </p:nvSpPr>
        <p:spPr>
          <a:xfrm>
            <a:off x="566928" y="3081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234440" y="3026664"/>
            <a:ext cx="2743200" cy="292608"/>
          </a:xfrm>
          <a:prstGeom prst="rect">
            <a:avLst/>
          </a:prstGeom>
          <a:noFill/>
          <a:ln/>
        </p:spPr>
        <p:txBody>
          <a:bodyPr wrap="square" lIns="0" tIns="0" rIns="0" bIns="0" rtlCol="0" anchor="ctr"/>
          <a:lstStyle/>
          <a:p>
            <a:pPr indent="0" marL="0">
              <a:buNone/>
            </a:pPr>
            <a:r>
              <a:rPr lang="en-US" sz="1550" b="1" dirty="0">
                <a:solidFill>
                  <a:srgbClr val="2B3A42"/>
                </a:solidFill>
                <a:latin typeface="Calibri" pitchFamily="34" charset="0"/>
                <a:ea typeface="Calibri" pitchFamily="34" charset="-122"/>
                <a:cs typeface="Calibri" pitchFamily="34" charset="-120"/>
              </a:rPr>
              <a:t>No interruption</a:t>
            </a:r>
            <a:endParaRPr lang="en-US" sz="1550" dirty="0"/>
          </a:p>
        </p:txBody>
      </p:sp>
      <p:sp>
        <p:nvSpPr>
          <p:cNvPr id="18" name="Text 16"/>
          <p:cNvSpPr/>
          <p:nvPr/>
        </p:nvSpPr>
        <p:spPr>
          <a:xfrm>
            <a:off x="1234440" y="3337560"/>
            <a:ext cx="6035040" cy="310896"/>
          </a:xfrm>
          <a:prstGeom prst="rect">
            <a:avLst/>
          </a:prstGeom>
          <a:noFill/>
          <a:ln/>
        </p:spPr>
        <p:txBody>
          <a:bodyPr wrap="square" lIns="0" tIns="0" rIns="0" bIns="0" rtlCol="0" anchor="t"/>
          <a:lstStyle/>
          <a:p>
            <a:pPr indent="0" marL="0">
              <a:buNone/>
            </a:pPr>
            <a:r>
              <a:rPr lang="en-US" sz="1250" dirty="0">
                <a:solidFill>
                  <a:srgbClr val="6B7A82"/>
                </a:solidFill>
                <a:latin typeface="Calibri" pitchFamily="34" charset="0"/>
                <a:ea typeface="Calibri" pitchFamily="34" charset="-122"/>
                <a:cs typeface="Calibri" pitchFamily="34" charset="-120"/>
              </a:rPr>
              <a:t>We ship, invoice, and close every single month throughout the transition.</a:t>
            </a:r>
            <a:endParaRPr lang="en-US" sz="1250" dirty="0"/>
          </a:p>
        </p:txBody>
      </p:sp>
      <p:sp>
        <p:nvSpPr>
          <p:cNvPr id="19" name="Shape 17"/>
          <p:cNvSpPr/>
          <p:nvPr/>
        </p:nvSpPr>
        <p:spPr>
          <a:xfrm>
            <a:off x="1234440" y="3758184"/>
            <a:ext cx="6035040" cy="9144"/>
          </a:xfrm>
          <a:prstGeom prst="rect">
            <a:avLst/>
          </a:prstGeom>
          <a:solidFill>
            <a:srgbClr val="D6DDE0"/>
          </a:solidFill>
          <a:ln/>
        </p:spPr>
      </p:sp>
      <p:sp>
        <p:nvSpPr>
          <p:cNvPr id="20" name="Shape 18"/>
          <p:cNvSpPr/>
          <p:nvPr/>
        </p:nvSpPr>
        <p:spPr>
          <a:xfrm>
            <a:off x="566928" y="3950208"/>
            <a:ext cx="457200" cy="457200"/>
          </a:xfrm>
          <a:prstGeom prst="ellipse">
            <a:avLst/>
          </a:prstGeom>
          <a:solidFill>
            <a:srgbClr val="C25E00"/>
          </a:solidFill>
          <a:ln/>
        </p:spPr>
      </p:sp>
      <p:sp>
        <p:nvSpPr>
          <p:cNvPr id="21" name="Text 19"/>
          <p:cNvSpPr/>
          <p:nvPr/>
        </p:nvSpPr>
        <p:spPr>
          <a:xfrm>
            <a:off x="566928" y="39502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234440" y="3895344"/>
            <a:ext cx="2743200" cy="292608"/>
          </a:xfrm>
          <a:prstGeom prst="rect">
            <a:avLst/>
          </a:prstGeom>
          <a:noFill/>
          <a:ln/>
        </p:spPr>
        <p:txBody>
          <a:bodyPr wrap="square" lIns="0" tIns="0" rIns="0" bIns="0" rtlCol="0" anchor="ctr"/>
          <a:lstStyle/>
          <a:p>
            <a:pPr indent="0" marL="0">
              <a:buNone/>
            </a:pPr>
            <a:r>
              <a:rPr lang="en-US" sz="1550" b="1" dirty="0">
                <a:solidFill>
                  <a:srgbClr val="2B3A42"/>
                </a:solidFill>
                <a:latin typeface="Calibri" pitchFamily="34" charset="0"/>
                <a:ea typeface="Calibri" pitchFamily="34" charset="-122"/>
                <a:cs typeface="Calibri" pitchFamily="34" charset="-120"/>
              </a:rPr>
              <a:t>A simpler landscape</a:t>
            </a:r>
            <a:endParaRPr lang="en-US" sz="1550" dirty="0"/>
          </a:p>
        </p:txBody>
      </p:sp>
      <p:sp>
        <p:nvSpPr>
          <p:cNvPr id="23" name="Text 21"/>
          <p:cNvSpPr/>
          <p:nvPr/>
        </p:nvSpPr>
        <p:spPr>
          <a:xfrm>
            <a:off x="1234440" y="4206240"/>
            <a:ext cx="6035040" cy="310896"/>
          </a:xfrm>
          <a:prstGeom prst="rect">
            <a:avLst/>
          </a:prstGeom>
          <a:noFill/>
          <a:ln/>
        </p:spPr>
        <p:txBody>
          <a:bodyPr wrap="square" lIns="0" tIns="0" rIns="0" bIns="0" rtlCol="0" anchor="t"/>
          <a:lstStyle/>
          <a:p>
            <a:pPr indent="0" marL="0">
              <a:buNone/>
            </a:pPr>
            <a:r>
              <a:rPr lang="en-US" sz="1250" dirty="0">
                <a:solidFill>
                  <a:srgbClr val="6B7A82"/>
                </a:solidFill>
                <a:latin typeface="Calibri" pitchFamily="34" charset="0"/>
                <a:ea typeface="Calibri" pitchFamily="34" charset="-122"/>
                <a:cs typeface="Calibri" pitchFamily="34" charset="-120"/>
              </a:rPr>
              <a:t>Fewer systems, a named owner for every data domain, one set of KPI definitions.</a:t>
            </a:r>
            <a:endParaRPr lang="en-US" sz="1250" dirty="0"/>
          </a:p>
        </p:txBody>
      </p:sp>
      <p:sp>
        <p:nvSpPr>
          <p:cNvPr id="24" name="Shape 22"/>
          <p:cNvSpPr/>
          <p:nvPr/>
        </p:nvSpPr>
        <p:spPr>
          <a:xfrm>
            <a:off x="1234440" y="4626864"/>
            <a:ext cx="6035040" cy="9144"/>
          </a:xfrm>
          <a:prstGeom prst="rect">
            <a:avLst/>
          </a:prstGeom>
          <a:solidFill>
            <a:srgbClr val="D6DDE0"/>
          </a:solidFill>
          <a:ln/>
        </p:spPr>
      </p:sp>
      <p:sp>
        <p:nvSpPr>
          <p:cNvPr id="25" name="Shape 23"/>
          <p:cNvSpPr/>
          <p:nvPr/>
        </p:nvSpPr>
        <p:spPr>
          <a:xfrm>
            <a:off x="566928" y="4818888"/>
            <a:ext cx="457200" cy="457200"/>
          </a:xfrm>
          <a:prstGeom prst="ellipse">
            <a:avLst/>
          </a:prstGeom>
          <a:solidFill>
            <a:srgbClr val="C25E00"/>
          </a:solidFill>
          <a:ln/>
        </p:spPr>
      </p:sp>
      <p:sp>
        <p:nvSpPr>
          <p:cNvPr id="26" name="Text 24"/>
          <p:cNvSpPr/>
          <p:nvPr/>
        </p:nvSpPr>
        <p:spPr>
          <a:xfrm>
            <a:off x="566928" y="48188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234440" y="4764024"/>
            <a:ext cx="2743200" cy="292608"/>
          </a:xfrm>
          <a:prstGeom prst="rect">
            <a:avLst/>
          </a:prstGeom>
          <a:noFill/>
          <a:ln/>
        </p:spPr>
        <p:txBody>
          <a:bodyPr wrap="square" lIns="0" tIns="0" rIns="0" bIns="0" rtlCol="0" anchor="ctr"/>
          <a:lstStyle/>
          <a:p>
            <a:pPr indent="0" marL="0">
              <a:buNone/>
            </a:pPr>
            <a:r>
              <a:rPr lang="en-US" sz="1550" b="1" dirty="0">
                <a:solidFill>
                  <a:srgbClr val="2B3A42"/>
                </a:solidFill>
                <a:latin typeface="Calibri" pitchFamily="34" charset="0"/>
                <a:ea typeface="Calibri" pitchFamily="34" charset="-122"/>
                <a:cs typeface="Calibri" pitchFamily="34" charset="-120"/>
              </a:rPr>
              <a:t>An upgradable platform</a:t>
            </a:r>
            <a:endParaRPr lang="en-US" sz="1550" dirty="0"/>
          </a:p>
        </p:txBody>
      </p:sp>
      <p:sp>
        <p:nvSpPr>
          <p:cNvPr id="28" name="Text 26"/>
          <p:cNvSpPr/>
          <p:nvPr/>
        </p:nvSpPr>
        <p:spPr>
          <a:xfrm>
            <a:off x="1234440" y="5074920"/>
            <a:ext cx="6035040" cy="310896"/>
          </a:xfrm>
          <a:prstGeom prst="rect">
            <a:avLst/>
          </a:prstGeom>
          <a:noFill/>
          <a:ln/>
        </p:spPr>
        <p:txBody>
          <a:bodyPr wrap="square" lIns="0" tIns="0" rIns="0" bIns="0" rtlCol="0" anchor="t"/>
          <a:lstStyle/>
          <a:p>
            <a:pPr indent="0" marL="0">
              <a:buNone/>
            </a:pPr>
            <a:r>
              <a:rPr lang="en-US" sz="1250" dirty="0">
                <a:solidFill>
                  <a:srgbClr val="6B7A82"/>
                </a:solidFill>
                <a:latin typeface="Calibri" pitchFamily="34" charset="0"/>
                <a:ea typeface="Calibri" pitchFamily="34" charset="-122"/>
                <a:cs typeface="Calibri" pitchFamily="34" charset="-120"/>
              </a:rPr>
              <a:t>Standard configuration we can take quarterly releases on without launching a project.</a:t>
            </a:r>
            <a:endParaRPr lang="en-US" sz="1250" dirty="0"/>
          </a:p>
        </p:txBody>
      </p:sp>
      <p:sp>
        <p:nvSpPr>
          <p:cNvPr id="29" name="Shape 27"/>
          <p:cNvSpPr/>
          <p:nvPr/>
        </p:nvSpPr>
        <p:spPr>
          <a:xfrm>
            <a:off x="7863840" y="1371600"/>
            <a:ext cx="3749040" cy="3977640"/>
          </a:xfrm>
          <a:prstGeom prst="roundRect">
            <a:avLst>
              <a:gd name="adj" fmla="val 1463"/>
            </a:avLst>
          </a:prstGeom>
          <a:solidFill>
            <a:srgbClr val="F2F4F5"/>
          </a:solidFill>
          <a:ln w="9525">
            <a:solidFill>
              <a:srgbClr val="D6DDE0"/>
            </a:solidFill>
            <a:prstDash val="solid"/>
          </a:ln>
        </p:spPr>
      </p:sp>
      <p:sp>
        <p:nvSpPr>
          <p:cNvPr id="30" name="Text 28"/>
          <p:cNvSpPr/>
          <p:nvPr/>
        </p:nvSpPr>
        <p:spPr>
          <a:xfrm>
            <a:off x="8138160" y="1600200"/>
            <a:ext cx="3200400" cy="320040"/>
          </a:xfrm>
          <a:prstGeom prst="rect">
            <a:avLst/>
          </a:prstGeom>
          <a:noFill/>
          <a:ln/>
        </p:spPr>
        <p:txBody>
          <a:bodyPr wrap="square" lIns="0" tIns="0" rIns="0" bIns="0" rtlCol="0" anchor="ctr"/>
          <a:lstStyle/>
          <a:p>
            <a:pPr indent="0" marL="0">
              <a:buNone/>
            </a:pPr>
            <a:r>
              <a:rPr lang="en-US" sz="1650" b="1" dirty="0">
                <a:solidFill>
                  <a:srgbClr val="C25E00"/>
                </a:solidFill>
                <a:latin typeface="Cambria" pitchFamily="34" charset="0"/>
                <a:ea typeface="Cambria" pitchFamily="34" charset="-122"/>
                <a:cs typeface="Cambria" pitchFamily="34" charset="-120"/>
              </a:rPr>
              <a:t>Explicitly NOT objectives</a:t>
            </a:r>
            <a:endParaRPr lang="en-US" sz="1650" dirty="0"/>
          </a:p>
        </p:txBody>
      </p:sp>
      <p:sp>
        <p:nvSpPr>
          <p:cNvPr id="31" name="Text 29"/>
          <p:cNvSpPr/>
          <p:nvPr/>
        </p:nvSpPr>
        <p:spPr>
          <a:xfrm>
            <a:off x="8138160" y="2103120"/>
            <a:ext cx="3200400" cy="2011680"/>
          </a:xfrm>
          <a:prstGeom prst="rect">
            <a:avLst/>
          </a:prstGeom>
          <a:noFill/>
          <a:ln/>
        </p:spPr>
        <p:txBody>
          <a:bodyPr wrap="square" lIns="0" tIns="0" rIns="0" bIns="0" rtlCol="0" anchor="ctr"/>
          <a:lstStyle/>
          <a:p>
            <a:pPr marL="342900" indent="-342900">
              <a:lnSpc>
                <a:spcPts val="1700"/>
              </a:lnSpc>
              <a:spcAft>
                <a:spcPts val="1000"/>
              </a:spcAft>
              <a:buSzPct val="100000"/>
              <a:buChar char="•"/>
            </a:pPr>
            <a:r>
              <a:rPr lang="en-US" sz="1300" dirty="0">
                <a:solidFill>
                  <a:srgbClr val="2B3A42"/>
                </a:solidFill>
                <a:latin typeface="Calibri" pitchFamily="34" charset="0"/>
                <a:ea typeface="Calibri" pitchFamily="34" charset="-122"/>
                <a:cs typeface="Calibri" pitchFamily="34" charset="-120"/>
              </a:rPr>
              <a:t>Replacing every system in the landscape.</a:t>
            </a:r>
            <a:endParaRPr lang="en-US" sz="1300" dirty="0"/>
          </a:p>
          <a:p>
            <a:pPr marL="342900" indent="-342900">
              <a:lnSpc>
                <a:spcPts val="1700"/>
              </a:lnSpc>
              <a:spcAft>
                <a:spcPts val="1000"/>
              </a:spcAft>
              <a:buSzPct val="100000"/>
              <a:buChar char="•"/>
            </a:pPr>
            <a:r>
              <a:rPr lang="en-US" sz="1300" dirty="0">
                <a:solidFill>
                  <a:srgbClr val="2B3A42"/>
                </a:solidFill>
                <a:latin typeface="Calibri" pitchFamily="34" charset="0"/>
                <a:ea typeface="Calibri" pitchFamily="34" charset="-122"/>
                <a:cs typeface="Calibri" pitchFamily="34" charset="-120"/>
              </a:rPr>
              <a:t>Reproducing the legacy ERP's behavior in a new tool.</a:t>
            </a:r>
            <a:endParaRPr lang="en-US" sz="1300" dirty="0"/>
          </a:p>
          <a:p>
            <a:pPr marL="342900" indent="-342900">
              <a:lnSpc>
                <a:spcPts val="1700"/>
              </a:lnSpc>
              <a:spcAft>
                <a:spcPts val="1000"/>
              </a:spcAft>
              <a:buSzPct val="100000"/>
              <a:buChar char="•"/>
            </a:pPr>
            <a:r>
              <a:rPr lang="en-US" sz="1300" dirty="0">
                <a:solidFill>
                  <a:srgbClr val="2B3A42"/>
                </a:solidFill>
                <a:latin typeface="Calibri" pitchFamily="34" charset="0"/>
                <a:ea typeface="Calibri" pitchFamily="34" charset="-122"/>
                <a:cs typeface="Calibri" pitchFamily="34" charset="-120"/>
              </a:rPr>
              <a:t>Touching CRM, HRIS, or payroll in this cutover.</a:t>
            </a:r>
            <a:endParaRPr lang="en-US" sz="1300" dirty="0"/>
          </a:p>
          <a:p>
            <a:pPr marL="342900" indent="-342900">
              <a:lnSpc>
                <a:spcPts val="1700"/>
              </a:lnSpc>
              <a:spcAft>
                <a:spcPts val="1000"/>
              </a:spcAft>
              <a:buSzPct val="100000"/>
              <a:buChar char="•"/>
            </a:pPr>
            <a:r>
              <a:rPr lang="en-US" sz="1300" dirty="0">
                <a:solidFill>
                  <a:srgbClr val="2B3A42"/>
                </a:solidFill>
                <a:latin typeface="Calibri" pitchFamily="34" charset="0"/>
                <a:ea typeface="Calibri" pitchFamily="34" charset="-122"/>
                <a:cs typeface="Calibri" pitchFamily="34" charset="-120"/>
              </a:rPr>
              <a:t>Migrating twenty years of transaction history.</a:t>
            </a:r>
            <a:endParaRPr lang="en-US" sz="1300" dirty="0"/>
          </a:p>
        </p:txBody>
      </p:sp>
      <p:sp>
        <p:nvSpPr>
          <p:cNvPr id="32" name="Text 30"/>
          <p:cNvSpPr/>
          <p:nvPr/>
        </p:nvSpPr>
        <p:spPr>
          <a:xfrm>
            <a:off x="8138160" y="4434840"/>
            <a:ext cx="3200400" cy="731520"/>
          </a:xfrm>
          <a:prstGeom prst="rect">
            <a:avLst/>
          </a:prstGeom>
          <a:noFill/>
          <a:ln/>
        </p:spPr>
        <p:txBody>
          <a:bodyPr wrap="square" lIns="0" tIns="0" rIns="0" bIns="0" rtlCol="0" anchor="ctr"/>
          <a:lstStyle/>
          <a:p>
            <a:pPr indent="0" marL="0">
              <a:buNone/>
            </a:pPr>
            <a:r>
              <a:rPr lang="en-US" sz="1150" i="1" dirty="0">
                <a:solidFill>
                  <a:srgbClr val="6B7A82"/>
                </a:solidFill>
                <a:latin typeface="Calibri" pitchFamily="34" charset="0"/>
                <a:ea typeface="Calibri" pitchFamily="34" charset="-122"/>
                <a:cs typeface="Calibri" pitchFamily="34" charset="-120"/>
              </a:rPr>
              <a:t>Every one of these is a real request we expect to receive, and a real way this program fails.</a:t>
            </a:r>
            <a:endParaRPr lang="en-US" sz="1150" dirty="0"/>
          </a:p>
        </p:txBody>
      </p:sp>
      <p:sp>
        <p:nvSpPr>
          <p:cNvPr id="33" name="Text 31"/>
          <p:cNvSpPr/>
          <p:nvPr/>
        </p:nvSpPr>
        <p:spPr>
          <a:xfrm>
            <a:off x="548640" y="6419088"/>
            <a:ext cx="5486400" cy="228600"/>
          </a:xfrm>
          <a:prstGeom prst="rect">
            <a:avLst/>
          </a:prstGeom>
          <a:noFill/>
          <a:ln/>
        </p:spPr>
        <p:txBody>
          <a:bodyPr wrap="square" lIns="0" tIns="0" rIns="0" bIns="0" rtlCol="0" anchor="ctr"/>
          <a:lstStyle/>
          <a:p>
            <a:pPr indent="0" marL="0">
              <a:buNone/>
            </a:pPr>
            <a:r>
              <a:rPr lang="en-US" sz="850" dirty="0">
                <a:solidFill>
                  <a:srgbClr val="6B7A82"/>
                </a:solidFill>
                <a:latin typeface="Calibri" pitchFamily="34" charset="0"/>
                <a:ea typeface="Calibri" pitchFamily="34" charset="-122"/>
                <a:cs typeface="Calibri" pitchFamily="34" charset="-120"/>
              </a:rPr>
              <a:t>AMG ERP Transformation  |  Confidential</a:t>
            </a:r>
            <a:endParaRPr lang="en-US" sz="850" dirty="0"/>
          </a:p>
        </p:txBody>
      </p:sp>
      <p:sp>
        <p:nvSpPr>
          <p:cNvPr id="34" name="Text 32"/>
          <p:cNvSpPr/>
          <p:nvPr/>
        </p:nvSpPr>
        <p:spPr>
          <a:xfrm>
            <a:off x="11064240" y="6419088"/>
            <a:ext cx="548640" cy="228600"/>
          </a:xfrm>
          <a:prstGeom prst="rect">
            <a:avLst/>
          </a:prstGeom>
          <a:noFill/>
          <a:ln/>
        </p:spPr>
        <p:txBody>
          <a:bodyPr wrap="square" lIns="0" tIns="0" rIns="0" bIns="0" rtlCol="0" anchor="ctr"/>
          <a:lstStyle/>
          <a:p>
            <a:pPr algn="r" indent="0" marL="0">
              <a:buNone/>
            </a:pPr>
            <a:r>
              <a:rPr lang="en-US" sz="850" dirty="0">
                <a:solidFill>
                  <a:srgbClr val="6B7A82"/>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10896" cy="310896"/>
          </a:xfrm>
          <a:prstGeom prst="rect">
            <a:avLst/>
          </a:prstGeom>
          <a:solidFill>
            <a:srgbClr val="C25E00"/>
          </a:solidFill>
          <a:ln/>
        </p:spPr>
      </p:sp>
      <p:sp>
        <p:nvSpPr>
          <p:cNvPr id="3" name="Text 1"/>
          <p:cNvSpPr/>
          <p:nvPr/>
        </p:nvSpPr>
        <p:spPr>
          <a:xfrm>
            <a:off x="548640" y="3840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p:nvPr/>
        </p:nvSpPr>
        <p:spPr>
          <a:xfrm>
            <a:off x="987552" y="347472"/>
            <a:ext cx="10607040" cy="402336"/>
          </a:xfrm>
          <a:prstGeom prst="rect">
            <a:avLst/>
          </a:prstGeom>
          <a:noFill/>
          <a:ln/>
        </p:spPr>
        <p:txBody>
          <a:bodyPr wrap="square" lIns="0" tIns="0" rIns="0" bIns="0" rtlCol="0" anchor="ctr"/>
          <a:lstStyle/>
          <a:p>
            <a:pPr algn="l" indent="0" marL="0">
              <a:buNone/>
            </a:pPr>
            <a:r>
              <a:rPr lang="en-US" sz="2700" b="1" dirty="0">
                <a:solidFill>
                  <a:srgbClr val="2B3A42"/>
                </a:solidFill>
                <a:latin typeface="Cambria" pitchFamily="34" charset="0"/>
                <a:ea typeface="Cambria" pitchFamily="34" charset="-122"/>
                <a:cs typeface="Cambria" pitchFamily="34" charset="-120"/>
              </a:rPr>
              <a:t>Phasing: three options, one recommendation</a:t>
            </a:r>
            <a:endParaRPr lang="en-US" sz="2700" dirty="0"/>
          </a:p>
        </p:txBody>
      </p:sp>
      <p:sp>
        <p:nvSpPr>
          <p:cNvPr id="5" name="Text 3"/>
          <p:cNvSpPr/>
          <p:nvPr/>
        </p:nvSpPr>
        <p:spPr>
          <a:xfrm>
            <a:off x="987552" y="786384"/>
            <a:ext cx="10607040" cy="274320"/>
          </a:xfrm>
          <a:prstGeom prst="rect">
            <a:avLst/>
          </a:prstGeom>
          <a:noFill/>
          <a:ln/>
        </p:spPr>
        <p:txBody>
          <a:bodyPr wrap="square" lIns="0" tIns="0" rIns="0" bIns="0" rtlCol="0" anchor="t"/>
          <a:lstStyle/>
          <a:p>
            <a:pPr indent="0" marL="0">
              <a:buNone/>
            </a:pPr>
            <a:r>
              <a:rPr lang="en-US" sz="1250" i="1" dirty="0">
                <a:solidFill>
                  <a:srgbClr val="6B7A82"/>
                </a:solidFill>
                <a:latin typeface="Calibri" pitchFamily="34" charset="0"/>
                <a:ea typeface="Calibri" pitchFamily="34" charset="-122"/>
                <a:cs typeface="Calibri" pitchFamily="34" charset="-120"/>
              </a:rPr>
              <a:t>We hold the 12-month date and redefine what go-live means.</a:t>
            </a:r>
            <a:endParaRPr lang="en-US" sz="1250" dirty="0"/>
          </a:p>
        </p:txBody>
      </p:sp>
      <p:sp>
        <p:nvSpPr>
          <p:cNvPr id="6" name="Shape 4"/>
          <p:cNvSpPr/>
          <p:nvPr/>
        </p:nvSpPr>
        <p:spPr>
          <a:xfrm>
            <a:off x="548640" y="1463040"/>
            <a:ext cx="3474720" cy="3429000"/>
          </a:xfrm>
          <a:prstGeom prst="roundRect">
            <a:avLst>
              <a:gd name="adj" fmla="val 1600"/>
            </a:avLst>
          </a:prstGeom>
          <a:solidFill>
            <a:srgbClr val="FFFFFF"/>
          </a:solidFill>
          <a:ln w="9525">
            <a:solidFill>
              <a:srgbClr val="D6DDE0"/>
            </a:solidFill>
            <a:prstDash val="solid"/>
          </a:ln>
        </p:spPr>
      </p:sp>
      <p:sp>
        <p:nvSpPr>
          <p:cNvPr id="7" name="Text 5"/>
          <p:cNvSpPr/>
          <p:nvPr/>
        </p:nvSpPr>
        <p:spPr>
          <a:xfrm>
            <a:off x="804672" y="1664208"/>
            <a:ext cx="2926080" cy="228600"/>
          </a:xfrm>
          <a:prstGeom prst="rect">
            <a:avLst/>
          </a:prstGeom>
          <a:noFill/>
          <a:ln/>
        </p:spPr>
        <p:txBody>
          <a:bodyPr wrap="square" lIns="0" tIns="0" rIns="0" bIns="0" rtlCol="0" anchor="ctr"/>
          <a:lstStyle/>
          <a:p>
            <a:pPr indent="0" marL="0">
              <a:buNone/>
            </a:pPr>
            <a:r>
              <a:rPr lang="en-US" sz="1000" b="1" spc="150" kern="0" dirty="0">
                <a:solidFill>
                  <a:srgbClr val="6B7A82"/>
                </a:solidFill>
                <a:latin typeface="Calibri" pitchFamily="34" charset="0"/>
                <a:ea typeface="Calibri" pitchFamily="34" charset="-122"/>
                <a:cs typeface="Calibri" pitchFamily="34" charset="-120"/>
              </a:rPr>
              <a:t>REJECTED</a:t>
            </a:r>
            <a:endParaRPr lang="en-US" sz="1000" dirty="0"/>
          </a:p>
        </p:txBody>
      </p:sp>
      <p:sp>
        <p:nvSpPr>
          <p:cNvPr id="8" name="Text 6"/>
          <p:cNvSpPr/>
          <p:nvPr/>
        </p:nvSpPr>
        <p:spPr>
          <a:xfrm>
            <a:off x="804672" y="1938528"/>
            <a:ext cx="2926080" cy="365760"/>
          </a:xfrm>
          <a:prstGeom prst="rect">
            <a:avLst/>
          </a:prstGeom>
          <a:noFill/>
          <a:ln/>
        </p:spPr>
        <p:txBody>
          <a:bodyPr wrap="square" lIns="0" tIns="0" rIns="0" bIns="0" rtlCol="0" anchor="ctr"/>
          <a:lstStyle/>
          <a:p>
            <a:pPr indent="0" marL="0">
              <a:buNone/>
            </a:pPr>
            <a:r>
              <a:rPr lang="en-US" sz="2400" b="1" dirty="0">
                <a:solidFill>
                  <a:srgbClr val="6B7A82"/>
                </a:solidFill>
                <a:latin typeface="Cambria" pitchFamily="34" charset="0"/>
                <a:ea typeface="Cambria" pitchFamily="34" charset="-122"/>
                <a:cs typeface="Cambria" pitchFamily="34" charset="-120"/>
              </a:rPr>
              <a:t>Big bang</a:t>
            </a:r>
            <a:endParaRPr lang="en-US" sz="2400" dirty="0"/>
          </a:p>
        </p:txBody>
      </p:sp>
      <p:sp>
        <p:nvSpPr>
          <p:cNvPr id="9" name="Text 7"/>
          <p:cNvSpPr/>
          <p:nvPr/>
        </p:nvSpPr>
        <p:spPr>
          <a:xfrm>
            <a:off x="804672" y="2359152"/>
            <a:ext cx="2926080" cy="274320"/>
          </a:xfrm>
          <a:prstGeom prst="rect">
            <a:avLst/>
          </a:prstGeom>
          <a:noFill/>
          <a:ln/>
        </p:spPr>
        <p:txBody>
          <a:bodyPr wrap="square" lIns="0" tIns="0" rIns="0" bIns="0" rtlCol="0" anchor="ctr"/>
          <a:lstStyle/>
          <a:p>
            <a:pPr indent="0" marL="0">
              <a:buNone/>
            </a:pPr>
            <a:r>
              <a:rPr lang="en-US" sz="1200" b="1" dirty="0">
                <a:solidFill>
                  <a:srgbClr val="6B7A82"/>
                </a:solidFill>
                <a:latin typeface="Calibri" pitchFamily="34" charset="0"/>
                <a:ea typeface="Calibri" pitchFamily="34" charset="-122"/>
                <a:cs typeface="Calibri" pitchFamily="34" charset="-120"/>
              </a:rPr>
              <a:t>Five sites, everything, month 12</a:t>
            </a:r>
            <a:endParaRPr lang="en-US" sz="1200" dirty="0"/>
          </a:p>
        </p:txBody>
      </p:sp>
      <p:sp>
        <p:nvSpPr>
          <p:cNvPr id="10" name="Shape 8"/>
          <p:cNvSpPr/>
          <p:nvPr/>
        </p:nvSpPr>
        <p:spPr>
          <a:xfrm>
            <a:off x="804672" y="2724912"/>
            <a:ext cx="2962656" cy="9144"/>
          </a:xfrm>
          <a:prstGeom prst="rect">
            <a:avLst/>
          </a:prstGeom>
          <a:solidFill>
            <a:srgbClr val="D6DDE0"/>
          </a:solidFill>
          <a:ln/>
        </p:spPr>
      </p:sp>
      <p:sp>
        <p:nvSpPr>
          <p:cNvPr id="11" name="Text 9"/>
          <p:cNvSpPr/>
          <p:nvPr/>
        </p:nvSpPr>
        <p:spPr>
          <a:xfrm>
            <a:off x="804672" y="2852928"/>
            <a:ext cx="2962656" cy="1828800"/>
          </a:xfrm>
          <a:prstGeom prst="rect">
            <a:avLst/>
          </a:prstGeom>
          <a:noFill/>
          <a:ln/>
        </p:spPr>
        <p:txBody>
          <a:bodyPr wrap="square" lIns="0" tIns="0" rIns="0" bIns="0" rtlCol="0" anchor="t"/>
          <a:lstStyle/>
          <a:p>
            <a:pPr indent="0" marL="0">
              <a:lnSpc>
                <a:spcPts val="1700"/>
              </a:lnSpc>
              <a:buNone/>
            </a:pPr>
            <a:r>
              <a:rPr lang="en-US" sz="1250" dirty="0">
                <a:solidFill>
                  <a:srgbClr val="6B7A82"/>
                </a:solidFill>
                <a:latin typeface="Calibri" pitchFamily="34" charset="0"/>
                <a:ea typeface="Calibri" pitchFamily="34" charset="-122"/>
                <a:cs typeface="Calibri" pitchFamily="34" charset="-120"/>
              </a:rPr>
              <a:t>One weekend, everywhere. With 80% of orders custom, a BOM or MRP failure stops shipping at five plants at once. The blast radius is the company.</a:t>
            </a:r>
            <a:endParaRPr lang="en-US" sz="1250" dirty="0"/>
          </a:p>
        </p:txBody>
      </p:sp>
      <p:sp>
        <p:nvSpPr>
          <p:cNvPr id="12" name="Shape 10"/>
          <p:cNvSpPr/>
          <p:nvPr/>
        </p:nvSpPr>
        <p:spPr>
          <a:xfrm>
            <a:off x="4297680" y="1463040"/>
            <a:ext cx="3474720" cy="3429000"/>
          </a:xfrm>
          <a:prstGeom prst="roundRect">
            <a:avLst>
              <a:gd name="adj" fmla="val 1600"/>
            </a:avLst>
          </a:prstGeom>
          <a:solidFill>
            <a:srgbClr val="FFFFFF"/>
          </a:solidFill>
          <a:ln w="9525">
            <a:solidFill>
              <a:srgbClr val="D6DDE0"/>
            </a:solidFill>
            <a:prstDash val="solid"/>
          </a:ln>
        </p:spPr>
      </p:sp>
      <p:sp>
        <p:nvSpPr>
          <p:cNvPr id="13" name="Text 11"/>
          <p:cNvSpPr/>
          <p:nvPr/>
        </p:nvSpPr>
        <p:spPr>
          <a:xfrm>
            <a:off x="4553712" y="1664208"/>
            <a:ext cx="2926080" cy="228600"/>
          </a:xfrm>
          <a:prstGeom prst="rect">
            <a:avLst/>
          </a:prstGeom>
          <a:noFill/>
          <a:ln/>
        </p:spPr>
        <p:txBody>
          <a:bodyPr wrap="square" lIns="0" tIns="0" rIns="0" bIns="0" rtlCol="0" anchor="ctr"/>
          <a:lstStyle/>
          <a:p>
            <a:pPr indent="0" marL="0">
              <a:buNone/>
            </a:pPr>
            <a:r>
              <a:rPr lang="en-US" sz="1000" b="1" spc="150" kern="0" dirty="0">
                <a:solidFill>
                  <a:srgbClr val="6B7A82"/>
                </a:solidFill>
                <a:latin typeface="Calibri" pitchFamily="34" charset="0"/>
                <a:ea typeface="Calibri" pitchFamily="34" charset="-122"/>
                <a:cs typeface="Calibri" pitchFamily="34" charset="-120"/>
              </a:rPr>
              <a:t>REJECTED</a:t>
            </a:r>
            <a:endParaRPr lang="en-US" sz="1000" dirty="0"/>
          </a:p>
        </p:txBody>
      </p:sp>
      <p:sp>
        <p:nvSpPr>
          <p:cNvPr id="14" name="Text 12"/>
          <p:cNvSpPr/>
          <p:nvPr/>
        </p:nvSpPr>
        <p:spPr>
          <a:xfrm>
            <a:off x="4553712" y="1938528"/>
            <a:ext cx="2926080" cy="365760"/>
          </a:xfrm>
          <a:prstGeom prst="rect">
            <a:avLst/>
          </a:prstGeom>
          <a:noFill/>
          <a:ln/>
        </p:spPr>
        <p:txBody>
          <a:bodyPr wrap="square" lIns="0" tIns="0" rIns="0" bIns="0" rtlCol="0" anchor="ctr"/>
          <a:lstStyle/>
          <a:p>
            <a:pPr indent="0" marL="0">
              <a:buNone/>
            </a:pPr>
            <a:r>
              <a:rPr lang="en-US" sz="2400" b="1" dirty="0">
                <a:solidFill>
                  <a:srgbClr val="6B7A82"/>
                </a:solidFill>
                <a:latin typeface="Cambria" pitchFamily="34" charset="0"/>
                <a:ea typeface="Cambria" pitchFamily="34" charset="-122"/>
                <a:cs typeface="Cambria" pitchFamily="34" charset="-120"/>
              </a:rPr>
              <a:t>Module-phased</a:t>
            </a:r>
            <a:endParaRPr lang="en-US" sz="2400" dirty="0"/>
          </a:p>
        </p:txBody>
      </p:sp>
      <p:sp>
        <p:nvSpPr>
          <p:cNvPr id="15" name="Text 13"/>
          <p:cNvSpPr/>
          <p:nvPr/>
        </p:nvSpPr>
        <p:spPr>
          <a:xfrm>
            <a:off x="4553712" y="2359152"/>
            <a:ext cx="2926080" cy="274320"/>
          </a:xfrm>
          <a:prstGeom prst="rect">
            <a:avLst/>
          </a:prstGeom>
          <a:noFill/>
          <a:ln/>
        </p:spPr>
        <p:txBody>
          <a:bodyPr wrap="square" lIns="0" tIns="0" rIns="0" bIns="0" rtlCol="0" anchor="ctr"/>
          <a:lstStyle/>
          <a:p>
            <a:pPr indent="0" marL="0">
              <a:buNone/>
            </a:pPr>
            <a:r>
              <a:rPr lang="en-US" sz="1200" b="1" dirty="0">
                <a:solidFill>
                  <a:srgbClr val="6B7A82"/>
                </a:solidFill>
                <a:latin typeface="Calibri" pitchFamily="34" charset="0"/>
                <a:ea typeface="Calibri" pitchFamily="34" charset="-122"/>
                <a:cs typeface="Calibri" pitchFamily="34" charset="-120"/>
              </a:rPr>
              <a:t>Finance first, manufacturing later</a:t>
            </a:r>
            <a:endParaRPr lang="en-US" sz="1200" dirty="0"/>
          </a:p>
        </p:txBody>
      </p:sp>
      <p:sp>
        <p:nvSpPr>
          <p:cNvPr id="16" name="Shape 14"/>
          <p:cNvSpPr/>
          <p:nvPr/>
        </p:nvSpPr>
        <p:spPr>
          <a:xfrm>
            <a:off x="4553712" y="2724912"/>
            <a:ext cx="2962656" cy="9144"/>
          </a:xfrm>
          <a:prstGeom prst="rect">
            <a:avLst/>
          </a:prstGeom>
          <a:solidFill>
            <a:srgbClr val="D6DDE0"/>
          </a:solidFill>
          <a:ln/>
        </p:spPr>
      </p:sp>
      <p:sp>
        <p:nvSpPr>
          <p:cNvPr id="17" name="Text 15"/>
          <p:cNvSpPr/>
          <p:nvPr/>
        </p:nvSpPr>
        <p:spPr>
          <a:xfrm>
            <a:off x="4553712" y="2852928"/>
            <a:ext cx="2962656" cy="1828800"/>
          </a:xfrm>
          <a:prstGeom prst="rect">
            <a:avLst/>
          </a:prstGeom>
          <a:noFill/>
          <a:ln/>
        </p:spPr>
        <p:txBody>
          <a:bodyPr wrap="square" lIns="0" tIns="0" rIns="0" bIns="0" rtlCol="0" anchor="t"/>
          <a:lstStyle/>
          <a:p>
            <a:pPr indent="0" marL="0">
              <a:lnSpc>
                <a:spcPts val="1700"/>
              </a:lnSpc>
              <a:buNone/>
            </a:pPr>
            <a:r>
              <a:rPr lang="en-US" sz="1250" dirty="0">
                <a:solidFill>
                  <a:srgbClr val="6B7A82"/>
                </a:solidFill>
                <a:latin typeface="Calibri" pitchFamily="34" charset="0"/>
                <a:ea typeface="Calibri" pitchFamily="34" charset="-122"/>
                <a:cs typeface="Calibri" pitchFamily="34" charset="-120"/>
              </a:rPr>
              <a:t>Keeps legacy alive as the MRP engine, so the fragile sync survives another year. Spends the budget on the part that isn't broken.</a:t>
            </a:r>
            <a:endParaRPr lang="en-US" sz="1250" dirty="0"/>
          </a:p>
        </p:txBody>
      </p:sp>
      <p:sp>
        <p:nvSpPr>
          <p:cNvPr id="18" name="Shape 16"/>
          <p:cNvSpPr/>
          <p:nvPr/>
        </p:nvSpPr>
        <p:spPr>
          <a:xfrm>
            <a:off x="8046720" y="1463040"/>
            <a:ext cx="3474720" cy="3429000"/>
          </a:xfrm>
          <a:prstGeom prst="roundRect">
            <a:avLst>
              <a:gd name="adj" fmla="val 1600"/>
            </a:avLst>
          </a:prstGeom>
          <a:solidFill>
            <a:srgbClr val="F2F4F5"/>
          </a:solidFill>
          <a:ln w="9525">
            <a:solidFill>
              <a:srgbClr val="D6DDE0"/>
            </a:solidFill>
            <a:prstDash val="solid"/>
          </a:ln>
        </p:spPr>
      </p:sp>
      <p:sp>
        <p:nvSpPr>
          <p:cNvPr id="19" name="Shape 17"/>
          <p:cNvSpPr/>
          <p:nvPr/>
        </p:nvSpPr>
        <p:spPr>
          <a:xfrm>
            <a:off x="8046720" y="1463040"/>
            <a:ext cx="3474720" cy="3429000"/>
          </a:xfrm>
          <a:prstGeom prst="roundRect">
            <a:avLst>
              <a:gd name="adj" fmla="val 1600"/>
            </a:avLst>
          </a:prstGeom>
          <a:solidFill>
            <a:srgbClr val="F2F4F5"/>
          </a:solidFill>
          <a:ln w="25400">
            <a:solidFill>
              <a:srgbClr val="C25E00"/>
            </a:solidFill>
            <a:prstDash val="solid"/>
          </a:ln>
        </p:spPr>
      </p:sp>
      <p:sp>
        <p:nvSpPr>
          <p:cNvPr id="20" name="Text 18"/>
          <p:cNvSpPr/>
          <p:nvPr/>
        </p:nvSpPr>
        <p:spPr>
          <a:xfrm>
            <a:off x="8302752" y="1664208"/>
            <a:ext cx="2926080" cy="228600"/>
          </a:xfrm>
          <a:prstGeom prst="rect">
            <a:avLst/>
          </a:prstGeom>
          <a:noFill/>
          <a:ln/>
        </p:spPr>
        <p:txBody>
          <a:bodyPr wrap="square" lIns="0" tIns="0" rIns="0" bIns="0" rtlCol="0" anchor="ctr"/>
          <a:lstStyle/>
          <a:p>
            <a:pPr indent="0" marL="0">
              <a:buNone/>
            </a:pPr>
            <a:r>
              <a:rPr lang="en-US" sz="1000" b="1" spc="150" kern="0" dirty="0">
                <a:solidFill>
                  <a:srgbClr val="C25E00"/>
                </a:solidFill>
                <a:latin typeface="Calibri" pitchFamily="34" charset="0"/>
                <a:ea typeface="Calibri" pitchFamily="34" charset="-122"/>
                <a:cs typeface="Calibri" pitchFamily="34" charset="-120"/>
              </a:rPr>
              <a:t>RECOMMENDED</a:t>
            </a:r>
            <a:endParaRPr lang="en-US" sz="1000" dirty="0"/>
          </a:p>
        </p:txBody>
      </p:sp>
      <p:sp>
        <p:nvSpPr>
          <p:cNvPr id="21" name="Text 19"/>
          <p:cNvSpPr/>
          <p:nvPr/>
        </p:nvSpPr>
        <p:spPr>
          <a:xfrm>
            <a:off x="8302752" y="1938528"/>
            <a:ext cx="2926080" cy="365760"/>
          </a:xfrm>
          <a:prstGeom prst="rect">
            <a:avLst/>
          </a:prstGeom>
          <a:noFill/>
          <a:ln/>
        </p:spPr>
        <p:txBody>
          <a:bodyPr wrap="square" lIns="0" tIns="0" rIns="0" bIns="0" rtlCol="0" anchor="ctr"/>
          <a:lstStyle/>
          <a:p>
            <a:pPr indent="0" marL="0">
              <a:buNone/>
            </a:pPr>
            <a:r>
              <a:rPr lang="en-US" sz="2400" b="1" dirty="0">
                <a:solidFill>
                  <a:srgbClr val="2B3A42"/>
                </a:solidFill>
                <a:latin typeface="Cambria" pitchFamily="34" charset="0"/>
                <a:ea typeface="Cambria" pitchFamily="34" charset="-122"/>
                <a:cs typeface="Cambria" pitchFamily="34" charset="-120"/>
              </a:rPr>
              <a:t>Site-phased</a:t>
            </a:r>
            <a:endParaRPr lang="en-US" sz="2400" dirty="0"/>
          </a:p>
        </p:txBody>
      </p:sp>
      <p:sp>
        <p:nvSpPr>
          <p:cNvPr id="22" name="Text 20"/>
          <p:cNvSpPr/>
          <p:nvPr/>
        </p:nvSpPr>
        <p:spPr>
          <a:xfrm>
            <a:off x="8302752" y="2359152"/>
            <a:ext cx="2926080" cy="274320"/>
          </a:xfrm>
          <a:prstGeom prst="rect">
            <a:avLst/>
          </a:prstGeom>
          <a:noFill/>
          <a:ln/>
        </p:spPr>
        <p:txBody>
          <a:bodyPr wrap="square" lIns="0" tIns="0" rIns="0" bIns="0" rtlCol="0" anchor="ctr"/>
          <a:lstStyle/>
          <a:p>
            <a:pPr indent="0" marL="0">
              <a:buNone/>
            </a:pPr>
            <a:r>
              <a:rPr lang="en-US" sz="1200" b="1" dirty="0">
                <a:solidFill>
                  <a:srgbClr val="6B7A82"/>
                </a:solidFill>
                <a:latin typeface="Calibri" pitchFamily="34" charset="0"/>
                <a:ea typeface="Calibri" pitchFamily="34" charset="-122"/>
                <a:cs typeface="Calibri" pitchFamily="34" charset="-120"/>
              </a:rPr>
              <a:t>Full core each wave</a:t>
            </a:r>
            <a:endParaRPr lang="en-US" sz="1200" dirty="0"/>
          </a:p>
        </p:txBody>
      </p:sp>
      <p:sp>
        <p:nvSpPr>
          <p:cNvPr id="23" name="Shape 21"/>
          <p:cNvSpPr/>
          <p:nvPr/>
        </p:nvSpPr>
        <p:spPr>
          <a:xfrm>
            <a:off x="8302752" y="2724912"/>
            <a:ext cx="2962656" cy="9144"/>
          </a:xfrm>
          <a:prstGeom prst="rect">
            <a:avLst/>
          </a:prstGeom>
          <a:solidFill>
            <a:srgbClr val="D6DDE0"/>
          </a:solidFill>
          <a:ln/>
        </p:spPr>
      </p:sp>
      <p:sp>
        <p:nvSpPr>
          <p:cNvPr id="24" name="Text 22"/>
          <p:cNvSpPr/>
          <p:nvPr/>
        </p:nvSpPr>
        <p:spPr>
          <a:xfrm>
            <a:off x="8302752" y="2852928"/>
            <a:ext cx="2962656" cy="1828800"/>
          </a:xfrm>
          <a:prstGeom prst="rect">
            <a:avLst/>
          </a:prstGeom>
          <a:noFill/>
          <a:ln/>
        </p:spPr>
        <p:txBody>
          <a:bodyPr wrap="square" lIns="0" tIns="0" rIns="0" bIns="0" rtlCol="0" anchor="t"/>
          <a:lstStyle/>
          <a:p>
            <a:pPr indent="0" marL="0">
              <a:lnSpc>
                <a:spcPts val="1700"/>
              </a:lnSpc>
              <a:buNone/>
            </a:pPr>
            <a:r>
              <a:rPr lang="en-US" sz="1250" dirty="0">
                <a:solidFill>
                  <a:srgbClr val="2B3A42"/>
                </a:solidFill>
                <a:latin typeface="Calibri" pitchFamily="34" charset="0"/>
                <a:ea typeface="Calibri" pitchFamily="34" charset="-122"/>
                <a:cs typeface="Calibri" pitchFamily="34" charset="-120"/>
              </a:rPr>
              <a:t>All entity finance + one site's operations at M12. Remaining sites in two waves. Proves ETO on real orders at limited blast radius.</a:t>
            </a:r>
            <a:endParaRPr lang="en-US" sz="1250" dirty="0"/>
          </a:p>
        </p:txBody>
      </p:sp>
      <p:sp>
        <p:nvSpPr>
          <p:cNvPr id="25" name="Shape 23"/>
          <p:cNvSpPr/>
          <p:nvPr/>
        </p:nvSpPr>
        <p:spPr>
          <a:xfrm>
            <a:off x="548640" y="5120640"/>
            <a:ext cx="11064240" cy="1097280"/>
          </a:xfrm>
          <a:prstGeom prst="roundRect">
            <a:avLst>
              <a:gd name="adj" fmla="val 5000"/>
            </a:avLst>
          </a:prstGeom>
          <a:solidFill>
            <a:srgbClr val="2B3A42"/>
          </a:solidFill>
          <a:ln/>
        </p:spPr>
      </p:sp>
      <p:sp>
        <p:nvSpPr>
          <p:cNvPr id="26" name="Text 24"/>
          <p:cNvSpPr/>
          <p:nvPr/>
        </p:nvSpPr>
        <p:spPr>
          <a:xfrm>
            <a:off x="822960" y="5230368"/>
            <a:ext cx="292608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The one deliberate split</a:t>
            </a:r>
            <a:endParaRPr lang="en-US" sz="1200" dirty="0"/>
          </a:p>
        </p:txBody>
      </p:sp>
      <p:sp>
        <p:nvSpPr>
          <p:cNvPr id="27" name="Text 25"/>
          <p:cNvSpPr/>
          <p:nvPr/>
        </p:nvSpPr>
        <p:spPr>
          <a:xfrm>
            <a:off x="822960" y="5504688"/>
            <a:ext cx="10515600" cy="621792"/>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All five entities move to the new GL together at Wave 1, so consolidation lives in one place from Day 1. Sites still on legacy feed summary journals until their wave. We split at the GL boundary, not the entity boundary: it costs one temporary interface and buys us a single month-end close.</a:t>
            </a:r>
            <a:endParaRPr lang="en-US" sz="1250" dirty="0"/>
          </a:p>
        </p:txBody>
      </p:sp>
      <p:sp>
        <p:nvSpPr>
          <p:cNvPr id="28" name="Text 26"/>
          <p:cNvSpPr/>
          <p:nvPr/>
        </p:nvSpPr>
        <p:spPr>
          <a:xfrm>
            <a:off x="548640" y="6419088"/>
            <a:ext cx="5486400" cy="228600"/>
          </a:xfrm>
          <a:prstGeom prst="rect">
            <a:avLst/>
          </a:prstGeom>
          <a:noFill/>
          <a:ln/>
        </p:spPr>
        <p:txBody>
          <a:bodyPr wrap="square" lIns="0" tIns="0" rIns="0" bIns="0" rtlCol="0" anchor="ctr"/>
          <a:lstStyle/>
          <a:p>
            <a:pPr indent="0" marL="0">
              <a:buNone/>
            </a:pPr>
            <a:r>
              <a:rPr lang="en-US" sz="850" dirty="0">
                <a:solidFill>
                  <a:srgbClr val="6B7A82"/>
                </a:solidFill>
                <a:latin typeface="Calibri" pitchFamily="34" charset="0"/>
                <a:ea typeface="Calibri" pitchFamily="34" charset="-122"/>
                <a:cs typeface="Calibri" pitchFamily="34" charset="-120"/>
              </a:rPr>
              <a:t>AMG ERP Transformation  |  Confidential</a:t>
            </a:r>
            <a:endParaRPr lang="en-US" sz="850" dirty="0"/>
          </a:p>
        </p:txBody>
      </p:sp>
      <p:sp>
        <p:nvSpPr>
          <p:cNvPr id="29" name="Text 27"/>
          <p:cNvSpPr/>
          <p:nvPr/>
        </p:nvSpPr>
        <p:spPr>
          <a:xfrm>
            <a:off x="11064240" y="6419088"/>
            <a:ext cx="548640" cy="228600"/>
          </a:xfrm>
          <a:prstGeom prst="rect">
            <a:avLst/>
          </a:prstGeom>
          <a:noFill/>
          <a:ln/>
        </p:spPr>
        <p:txBody>
          <a:bodyPr wrap="square" lIns="0" tIns="0" rIns="0" bIns="0" rtlCol="0" anchor="ctr"/>
          <a:lstStyle/>
          <a:p>
            <a:pPr algn="r" indent="0" marL="0">
              <a:buNone/>
            </a:pPr>
            <a:r>
              <a:rPr lang="en-US" sz="850" dirty="0">
                <a:solidFill>
                  <a:srgbClr val="6B7A82"/>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10896" cy="310896"/>
          </a:xfrm>
          <a:prstGeom prst="rect">
            <a:avLst/>
          </a:prstGeom>
          <a:solidFill>
            <a:srgbClr val="C25E00"/>
          </a:solidFill>
          <a:ln/>
        </p:spPr>
      </p:sp>
      <p:sp>
        <p:nvSpPr>
          <p:cNvPr id="3" name="Text 1"/>
          <p:cNvSpPr/>
          <p:nvPr/>
        </p:nvSpPr>
        <p:spPr>
          <a:xfrm>
            <a:off x="548640" y="3840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 name="Text 2"/>
          <p:cNvSpPr/>
          <p:nvPr/>
        </p:nvSpPr>
        <p:spPr>
          <a:xfrm>
            <a:off x="987552" y="347472"/>
            <a:ext cx="10607040" cy="402336"/>
          </a:xfrm>
          <a:prstGeom prst="rect">
            <a:avLst/>
          </a:prstGeom>
          <a:noFill/>
          <a:ln/>
        </p:spPr>
        <p:txBody>
          <a:bodyPr wrap="square" lIns="0" tIns="0" rIns="0" bIns="0" rtlCol="0" anchor="ctr"/>
          <a:lstStyle/>
          <a:p>
            <a:pPr algn="l" indent="0" marL="0">
              <a:buNone/>
            </a:pPr>
            <a:r>
              <a:rPr lang="en-US" sz="2700" b="1" dirty="0">
                <a:solidFill>
                  <a:srgbClr val="2B3A42"/>
                </a:solidFill>
                <a:latin typeface="Cambria" pitchFamily="34" charset="0"/>
                <a:ea typeface="Cambria" pitchFamily="34" charset="-122"/>
                <a:cs typeface="Cambria" pitchFamily="34" charset="-120"/>
              </a:rPr>
              <a:t>The 18-month shape</a:t>
            </a:r>
            <a:endParaRPr lang="en-US" sz="2700" dirty="0"/>
          </a:p>
        </p:txBody>
      </p:sp>
      <p:sp>
        <p:nvSpPr>
          <p:cNvPr id="5" name="Text 3"/>
          <p:cNvSpPr/>
          <p:nvPr/>
        </p:nvSpPr>
        <p:spPr>
          <a:xfrm>
            <a:off x="987552" y="786384"/>
            <a:ext cx="10607040" cy="274320"/>
          </a:xfrm>
          <a:prstGeom prst="rect">
            <a:avLst/>
          </a:prstGeom>
          <a:noFill/>
          <a:ln/>
        </p:spPr>
        <p:txBody>
          <a:bodyPr wrap="square" lIns="0" tIns="0" rIns="0" bIns="0" rtlCol="0" anchor="t"/>
          <a:lstStyle/>
          <a:p>
            <a:pPr indent="0" marL="0">
              <a:buNone/>
            </a:pPr>
            <a:r>
              <a:rPr lang="en-US" sz="1250" i="1" dirty="0">
                <a:solidFill>
                  <a:srgbClr val="6B7A82"/>
                </a:solidFill>
                <a:latin typeface="Calibri" pitchFamily="34" charset="0"/>
                <a:ea typeface="Calibri" pitchFamily="34" charset="-122"/>
                <a:cs typeface="Calibri" pitchFamily="34" charset="-120"/>
              </a:rPr>
              <a:t>Go-live at month 12 is Wave 1, not the finish line.</a:t>
            </a:r>
            <a:endParaRPr lang="en-US" sz="1250" dirty="0"/>
          </a:p>
        </p:txBody>
      </p:sp>
      <p:sp>
        <p:nvSpPr>
          <p:cNvPr id="6" name="Shape 4"/>
          <p:cNvSpPr/>
          <p:nvPr/>
        </p:nvSpPr>
        <p:spPr>
          <a:xfrm>
            <a:off x="548640" y="1325880"/>
            <a:ext cx="1143000" cy="566928"/>
          </a:xfrm>
          <a:prstGeom prst="roundRect">
            <a:avLst>
              <a:gd name="adj" fmla="val 8065"/>
            </a:avLst>
          </a:prstGeom>
          <a:solidFill>
            <a:srgbClr val="2B3A42"/>
          </a:solidFill>
          <a:ln/>
        </p:spPr>
      </p:sp>
      <p:sp>
        <p:nvSpPr>
          <p:cNvPr id="7" name="Text 5"/>
          <p:cNvSpPr/>
          <p:nvPr/>
        </p:nvSpPr>
        <p:spPr>
          <a:xfrm>
            <a:off x="548640" y="1325880"/>
            <a:ext cx="114300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M0-M2</a:t>
            </a:r>
            <a:endParaRPr lang="en-US" sz="1300" dirty="0"/>
          </a:p>
        </p:txBody>
      </p:sp>
      <p:sp>
        <p:nvSpPr>
          <p:cNvPr id="8" name="Text 6"/>
          <p:cNvSpPr/>
          <p:nvPr/>
        </p:nvSpPr>
        <p:spPr>
          <a:xfrm>
            <a:off x="1874520" y="1307592"/>
            <a:ext cx="2743200" cy="292608"/>
          </a:xfrm>
          <a:prstGeom prst="rect">
            <a:avLst/>
          </a:prstGeom>
          <a:noFill/>
          <a:ln/>
        </p:spPr>
        <p:txBody>
          <a:bodyPr wrap="square" lIns="0" tIns="0" rIns="0" bIns="0" rtlCol="0" anchor="ctr"/>
          <a:lstStyle/>
          <a:p>
            <a:pPr indent="0" marL="0">
              <a:buNone/>
            </a:pPr>
            <a:r>
              <a:rPr lang="en-US" sz="1500" b="1" dirty="0">
                <a:solidFill>
                  <a:srgbClr val="2B3A42"/>
                </a:solidFill>
                <a:latin typeface="Calibri" pitchFamily="34" charset="0"/>
                <a:ea typeface="Calibri" pitchFamily="34" charset="-122"/>
                <a:cs typeface="Calibri" pitchFamily="34" charset="-120"/>
              </a:rPr>
              <a:t>Mobilize</a:t>
            </a:r>
            <a:endParaRPr lang="en-US" sz="1500" dirty="0"/>
          </a:p>
        </p:txBody>
      </p:sp>
      <p:sp>
        <p:nvSpPr>
          <p:cNvPr id="9" name="Text 7"/>
          <p:cNvSpPr/>
          <p:nvPr/>
        </p:nvSpPr>
        <p:spPr>
          <a:xfrm>
            <a:off x="1874520" y="1581912"/>
            <a:ext cx="9418320" cy="365760"/>
          </a:xfrm>
          <a:prstGeom prst="rect">
            <a:avLst/>
          </a:prstGeom>
          <a:noFill/>
          <a:ln/>
        </p:spPr>
        <p:txBody>
          <a:bodyPr wrap="square" lIns="0" tIns="0" rIns="0" bIns="0" rtlCol="0" anchor="t"/>
          <a:lstStyle/>
          <a:p>
            <a:pPr indent="0" marL="0">
              <a:buNone/>
            </a:pPr>
            <a:r>
              <a:rPr lang="en-US" sz="1200" dirty="0">
                <a:solidFill>
                  <a:srgbClr val="6B7A82"/>
                </a:solidFill>
                <a:latin typeface="Calibri" pitchFamily="34" charset="0"/>
                <a:ea typeface="Calibri" pitchFamily="34" charset="-122"/>
                <a:cs typeface="Calibri" pitchFamily="34" charset="-120"/>
              </a:rPr>
              <a:t>Sponsor and decision rights named. Data owners named. Item master and BOM cleanup starts in legacy. Auditors engaged on migration and rev-rec treatment.</a:t>
            </a:r>
            <a:endParaRPr lang="en-US" sz="1200" dirty="0"/>
          </a:p>
        </p:txBody>
      </p:sp>
      <p:sp>
        <p:nvSpPr>
          <p:cNvPr id="10" name="Shape 8"/>
          <p:cNvSpPr/>
          <p:nvPr/>
        </p:nvSpPr>
        <p:spPr>
          <a:xfrm>
            <a:off x="1097280" y="1892808"/>
            <a:ext cx="18288" cy="274320"/>
          </a:xfrm>
          <a:prstGeom prst="rect">
            <a:avLst/>
          </a:prstGeom>
          <a:solidFill>
            <a:srgbClr val="D6DDE0"/>
          </a:solidFill>
          <a:ln/>
        </p:spPr>
      </p:sp>
      <p:sp>
        <p:nvSpPr>
          <p:cNvPr id="11" name="Shape 9"/>
          <p:cNvSpPr/>
          <p:nvPr/>
        </p:nvSpPr>
        <p:spPr>
          <a:xfrm>
            <a:off x="548640" y="2167128"/>
            <a:ext cx="1143000" cy="566928"/>
          </a:xfrm>
          <a:prstGeom prst="roundRect">
            <a:avLst>
              <a:gd name="adj" fmla="val 8065"/>
            </a:avLst>
          </a:prstGeom>
          <a:solidFill>
            <a:srgbClr val="2B3A42"/>
          </a:solidFill>
          <a:ln/>
        </p:spPr>
      </p:sp>
      <p:sp>
        <p:nvSpPr>
          <p:cNvPr id="12" name="Text 10"/>
          <p:cNvSpPr/>
          <p:nvPr/>
        </p:nvSpPr>
        <p:spPr>
          <a:xfrm>
            <a:off x="548640" y="2167128"/>
            <a:ext cx="114300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M2-M6</a:t>
            </a:r>
            <a:endParaRPr lang="en-US" sz="1300" dirty="0"/>
          </a:p>
        </p:txBody>
      </p:sp>
      <p:sp>
        <p:nvSpPr>
          <p:cNvPr id="13" name="Text 11"/>
          <p:cNvSpPr/>
          <p:nvPr/>
        </p:nvSpPr>
        <p:spPr>
          <a:xfrm>
            <a:off x="1874520" y="2148840"/>
            <a:ext cx="2743200" cy="292608"/>
          </a:xfrm>
          <a:prstGeom prst="rect">
            <a:avLst/>
          </a:prstGeom>
          <a:noFill/>
          <a:ln/>
        </p:spPr>
        <p:txBody>
          <a:bodyPr wrap="square" lIns="0" tIns="0" rIns="0" bIns="0" rtlCol="0" anchor="ctr"/>
          <a:lstStyle/>
          <a:p>
            <a:pPr indent="0" marL="0">
              <a:buNone/>
            </a:pPr>
            <a:r>
              <a:rPr lang="en-US" sz="1500" b="1" dirty="0">
                <a:solidFill>
                  <a:srgbClr val="2B3A42"/>
                </a:solidFill>
                <a:latin typeface="Calibri" pitchFamily="34" charset="0"/>
                <a:ea typeface="Calibri" pitchFamily="34" charset="-122"/>
                <a:cs typeface="Calibri" pitchFamily="34" charset="-120"/>
              </a:rPr>
              <a:t>Fit-to-standard design</a:t>
            </a:r>
            <a:endParaRPr lang="en-US" sz="1500" dirty="0"/>
          </a:p>
        </p:txBody>
      </p:sp>
      <p:sp>
        <p:nvSpPr>
          <p:cNvPr id="14" name="Text 12"/>
          <p:cNvSpPr/>
          <p:nvPr/>
        </p:nvSpPr>
        <p:spPr>
          <a:xfrm>
            <a:off x="1874520" y="2423160"/>
            <a:ext cx="9418320" cy="365760"/>
          </a:xfrm>
          <a:prstGeom prst="rect">
            <a:avLst/>
          </a:prstGeom>
          <a:noFill/>
          <a:ln/>
        </p:spPr>
        <p:txBody>
          <a:bodyPr wrap="square" lIns="0" tIns="0" rIns="0" bIns="0" rtlCol="0" anchor="t"/>
          <a:lstStyle/>
          <a:p>
            <a:pPr indent="0" marL="0">
              <a:buNone/>
            </a:pPr>
            <a:r>
              <a:rPr lang="en-US" sz="1200" dirty="0">
                <a:solidFill>
                  <a:srgbClr val="6B7A82"/>
                </a:solidFill>
                <a:latin typeface="Calibri" pitchFamily="34" charset="0"/>
                <a:ea typeface="Calibri" pitchFamily="34" charset="-122"/>
                <a:cs typeface="Calibri" pitchFamily="34" charset="-120"/>
              </a:rPr>
              <a:t>Conference room pilot on five real historical orders, one with a mid-build ECN. Scope freezes at the end of M6.</a:t>
            </a:r>
            <a:endParaRPr lang="en-US" sz="1200" dirty="0"/>
          </a:p>
        </p:txBody>
      </p:sp>
      <p:sp>
        <p:nvSpPr>
          <p:cNvPr id="15" name="Shape 13"/>
          <p:cNvSpPr/>
          <p:nvPr/>
        </p:nvSpPr>
        <p:spPr>
          <a:xfrm>
            <a:off x="1097280" y="2734056"/>
            <a:ext cx="18288" cy="274320"/>
          </a:xfrm>
          <a:prstGeom prst="rect">
            <a:avLst/>
          </a:prstGeom>
          <a:solidFill>
            <a:srgbClr val="D6DDE0"/>
          </a:solidFill>
          <a:ln/>
        </p:spPr>
      </p:sp>
      <p:sp>
        <p:nvSpPr>
          <p:cNvPr id="16" name="Shape 14"/>
          <p:cNvSpPr/>
          <p:nvPr/>
        </p:nvSpPr>
        <p:spPr>
          <a:xfrm>
            <a:off x="548640" y="3008376"/>
            <a:ext cx="1143000" cy="566928"/>
          </a:xfrm>
          <a:prstGeom prst="roundRect">
            <a:avLst>
              <a:gd name="adj" fmla="val 8065"/>
            </a:avLst>
          </a:prstGeom>
          <a:solidFill>
            <a:srgbClr val="2B3A42"/>
          </a:solidFill>
          <a:ln/>
        </p:spPr>
      </p:sp>
      <p:sp>
        <p:nvSpPr>
          <p:cNvPr id="17" name="Text 15"/>
          <p:cNvSpPr/>
          <p:nvPr/>
        </p:nvSpPr>
        <p:spPr>
          <a:xfrm>
            <a:off x="548640" y="3008376"/>
            <a:ext cx="114300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M6-M11</a:t>
            </a:r>
            <a:endParaRPr lang="en-US" sz="1300" dirty="0"/>
          </a:p>
        </p:txBody>
      </p:sp>
      <p:sp>
        <p:nvSpPr>
          <p:cNvPr id="18" name="Text 16"/>
          <p:cNvSpPr/>
          <p:nvPr/>
        </p:nvSpPr>
        <p:spPr>
          <a:xfrm>
            <a:off x="1874520" y="2990088"/>
            <a:ext cx="2743200" cy="292608"/>
          </a:xfrm>
          <a:prstGeom prst="rect">
            <a:avLst/>
          </a:prstGeom>
          <a:noFill/>
          <a:ln/>
        </p:spPr>
        <p:txBody>
          <a:bodyPr wrap="square" lIns="0" tIns="0" rIns="0" bIns="0" rtlCol="0" anchor="ctr"/>
          <a:lstStyle/>
          <a:p>
            <a:pPr indent="0" marL="0">
              <a:buNone/>
            </a:pPr>
            <a:r>
              <a:rPr lang="en-US" sz="1500" b="1" dirty="0">
                <a:solidFill>
                  <a:srgbClr val="2B3A42"/>
                </a:solidFill>
                <a:latin typeface="Calibri" pitchFamily="34" charset="0"/>
                <a:ea typeface="Calibri" pitchFamily="34" charset="-122"/>
                <a:cs typeface="Calibri" pitchFamily="34" charset="-120"/>
              </a:rPr>
              <a:t>Build and rehearse</a:t>
            </a:r>
            <a:endParaRPr lang="en-US" sz="1500" dirty="0"/>
          </a:p>
        </p:txBody>
      </p:sp>
      <p:sp>
        <p:nvSpPr>
          <p:cNvPr id="19" name="Text 17"/>
          <p:cNvSpPr/>
          <p:nvPr/>
        </p:nvSpPr>
        <p:spPr>
          <a:xfrm>
            <a:off x="1874520" y="3264408"/>
            <a:ext cx="9418320" cy="365760"/>
          </a:xfrm>
          <a:prstGeom prst="rect">
            <a:avLst/>
          </a:prstGeom>
          <a:noFill/>
          <a:ln/>
        </p:spPr>
        <p:txBody>
          <a:bodyPr wrap="square" lIns="0" tIns="0" rIns="0" bIns="0" rtlCol="0" anchor="t"/>
          <a:lstStyle/>
          <a:p>
            <a:pPr indent="0" marL="0">
              <a:buNone/>
            </a:pPr>
            <a:r>
              <a:rPr lang="en-US" sz="1200" dirty="0">
                <a:solidFill>
                  <a:srgbClr val="6B7A82"/>
                </a:solidFill>
                <a:latin typeface="Calibri" pitchFamily="34" charset="0"/>
                <a:ea typeface="Calibri" pitchFamily="34" charset="-122"/>
                <a:cs typeface="Calibri" pitchFamily="34" charset="-120"/>
              </a:rPr>
              <a:t>Three mock data loads. Two mock cutovers. Mock cutover 2 includes a full trial month-end close on migrated data.</a:t>
            </a:r>
            <a:endParaRPr lang="en-US" sz="1200" dirty="0"/>
          </a:p>
        </p:txBody>
      </p:sp>
      <p:sp>
        <p:nvSpPr>
          <p:cNvPr id="20" name="Shape 18"/>
          <p:cNvSpPr/>
          <p:nvPr/>
        </p:nvSpPr>
        <p:spPr>
          <a:xfrm>
            <a:off x="1097280" y="3575304"/>
            <a:ext cx="18288" cy="274320"/>
          </a:xfrm>
          <a:prstGeom prst="rect">
            <a:avLst/>
          </a:prstGeom>
          <a:solidFill>
            <a:srgbClr val="D6DDE0"/>
          </a:solidFill>
          <a:ln/>
        </p:spPr>
      </p:sp>
      <p:sp>
        <p:nvSpPr>
          <p:cNvPr id="21" name="Shape 19"/>
          <p:cNvSpPr/>
          <p:nvPr/>
        </p:nvSpPr>
        <p:spPr>
          <a:xfrm>
            <a:off x="548640" y="3849624"/>
            <a:ext cx="1143000" cy="566928"/>
          </a:xfrm>
          <a:prstGeom prst="roundRect">
            <a:avLst>
              <a:gd name="adj" fmla="val 8065"/>
            </a:avLst>
          </a:prstGeom>
          <a:solidFill>
            <a:srgbClr val="C25E00"/>
          </a:solidFill>
          <a:ln/>
        </p:spPr>
      </p:sp>
      <p:sp>
        <p:nvSpPr>
          <p:cNvPr id="22" name="Text 20"/>
          <p:cNvSpPr/>
          <p:nvPr/>
        </p:nvSpPr>
        <p:spPr>
          <a:xfrm>
            <a:off x="548640" y="3849624"/>
            <a:ext cx="114300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M12</a:t>
            </a:r>
            <a:endParaRPr lang="en-US" sz="1300" dirty="0"/>
          </a:p>
        </p:txBody>
      </p:sp>
      <p:sp>
        <p:nvSpPr>
          <p:cNvPr id="23" name="Text 21"/>
          <p:cNvSpPr/>
          <p:nvPr/>
        </p:nvSpPr>
        <p:spPr>
          <a:xfrm>
            <a:off x="1874520" y="3831336"/>
            <a:ext cx="2743200" cy="292608"/>
          </a:xfrm>
          <a:prstGeom prst="rect">
            <a:avLst/>
          </a:prstGeom>
          <a:noFill/>
          <a:ln/>
        </p:spPr>
        <p:txBody>
          <a:bodyPr wrap="square" lIns="0" tIns="0" rIns="0" bIns="0" rtlCol="0" anchor="ctr"/>
          <a:lstStyle/>
          <a:p>
            <a:pPr indent="0" marL="0">
              <a:buNone/>
            </a:pPr>
            <a:r>
              <a:rPr lang="en-US" sz="1500" b="1" dirty="0">
                <a:solidFill>
                  <a:srgbClr val="C25E00"/>
                </a:solidFill>
                <a:latin typeface="Calibri" pitchFamily="34" charset="0"/>
                <a:ea typeface="Calibri" pitchFamily="34" charset="-122"/>
                <a:cs typeface="Calibri" pitchFamily="34" charset="-120"/>
              </a:rPr>
              <a:t>Wave 1 go-live</a:t>
            </a:r>
            <a:endParaRPr lang="en-US" sz="1500" dirty="0"/>
          </a:p>
        </p:txBody>
      </p:sp>
      <p:sp>
        <p:nvSpPr>
          <p:cNvPr id="24" name="Text 22"/>
          <p:cNvSpPr/>
          <p:nvPr/>
        </p:nvSpPr>
        <p:spPr>
          <a:xfrm>
            <a:off x="1874520" y="4105656"/>
            <a:ext cx="9418320" cy="365760"/>
          </a:xfrm>
          <a:prstGeom prst="rect">
            <a:avLst/>
          </a:prstGeom>
          <a:noFill/>
          <a:ln/>
        </p:spPr>
        <p:txBody>
          <a:bodyPr wrap="square" lIns="0" tIns="0" rIns="0" bIns="0" rtlCol="0" anchor="t"/>
          <a:lstStyle/>
          <a:p>
            <a:pPr indent="0" marL="0">
              <a:buNone/>
            </a:pPr>
            <a:r>
              <a:rPr lang="en-US" sz="1200" dirty="0">
                <a:solidFill>
                  <a:srgbClr val="6B7A82"/>
                </a:solidFill>
                <a:latin typeface="Calibri" pitchFamily="34" charset="0"/>
                <a:ea typeface="Calibri" pitchFamily="34" charset="-122"/>
                <a:cs typeface="Calibri" pitchFamily="34" charset="-120"/>
              </a:rPr>
              <a:t>All entity finance + the pilot site's full ETO cycle. Timed to a fiscal quarter start. Never year end.</a:t>
            </a:r>
            <a:endParaRPr lang="en-US" sz="1200" dirty="0"/>
          </a:p>
        </p:txBody>
      </p:sp>
      <p:sp>
        <p:nvSpPr>
          <p:cNvPr id="25" name="Shape 23"/>
          <p:cNvSpPr/>
          <p:nvPr/>
        </p:nvSpPr>
        <p:spPr>
          <a:xfrm>
            <a:off x="1097280" y="4416552"/>
            <a:ext cx="18288" cy="274320"/>
          </a:xfrm>
          <a:prstGeom prst="rect">
            <a:avLst/>
          </a:prstGeom>
          <a:solidFill>
            <a:srgbClr val="D6DDE0"/>
          </a:solidFill>
          <a:ln/>
        </p:spPr>
      </p:sp>
      <p:sp>
        <p:nvSpPr>
          <p:cNvPr id="26" name="Shape 24"/>
          <p:cNvSpPr/>
          <p:nvPr/>
        </p:nvSpPr>
        <p:spPr>
          <a:xfrm>
            <a:off x="548640" y="4690872"/>
            <a:ext cx="1143000" cy="566928"/>
          </a:xfrm>
          <a:prstGeom prst="roundRect">
            <a:avLst>
              <a:gd name="adj" fmla="val 8065"/>
            </a:avLst>
          </a:prstGeom>
          <a:solidFill>
            <a:srgbClr val="2B3A42"/>
          </a:solidFill>
          <a:ln/>
        </p:spPr>
      </p:sp>
      <p:sp>
        <p:nvSpPr>
          <p:cNvPr id="27" name="Text 25"/>
          <p:cNvSpPr/>
          <p:nvPr/>
        </p:nvSpPr>
        <p:spPr>
          <a:xfrm>
            <a:off x="548640" y="4690872"/>
            <a:ext cx="114300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M13-M18</a:t>
            </a:r>
            <a:endParaRPr lang="en-US" sz="1300" dirty="0"/>
          </a:p>
        </p:txBody>
      </p:sp>
      <p:sp>
        <p:nvSpPr>
          <p:cNvPr id="28" name="Text 26"/>
          <p:cNvSpPr/>
          <p:nvPr/>
        </p:nvSpPr>
        <p:spPr>
          <a:xfrm>
            <a:off x="1874520" y="4672584"/>
            <a:ext cx="2743200" cy="292608"/>
          </a:xfrm>
          <a:prstGeom prst="rect">
            <a:avLst/>
          </a:prstGeom>
          <a:noFill/>
          <a:ln/>
        </p:spPr>
        <p:txBody>
          <a:bodyPr wrap="square" lIns="0" tIns="0" rIns="0" bIns="0" rtlCol="0" anchor="ctr"/>
          <a:lstStyle/>
          <a:p>
            <a:pPr indent="0" marL="0">
              <a:buNone/>
            </a:pPr>
            <a:r>
              <a:rPr lang="en-US" sz="1500" b="1" dirty="0">
                <a:solidFill>
                  <a:srgbClr val="2B3A42"/>
                </a:solidFill>
                <a:latin typeface="Calibri" pitchFamily="34" charset="0"/>
                <a:ea typeface="Calibri" pitchFamily="34" charset="-122"/>
                <a:cs typeface="Calibri" pitchFamily="34" charset="-120"/>
              </a:rPr>
              <a:t>Waves 2 and 3</a:t>
            </a:r>
            <a:endParaRPr lang="en-US" sz="1500" dirty="0"/>
          </a:p>
        </p:txBody>
      </p:sp>
      <p:sp>
        <p:nvSpPr>
          <p:cNvPr id="29" name="Text 27"/>
          <p:cNvSpPr/>
          <p:nvPr/>
        </p:nvSpPr>
        <p:spPr>
          <a:xfrm>
            <a:off x="1874520" y="4946904"/>
            <a:ext cx="9418320" cy="365760"/>
          </a:xfrm>
          <a:prstGeom prst="rect">
            <a:avLst/>
          </a:prstGeom>
          <a:noFill/>
          <a:ln/>
        </p:spPr>
        <p:txBody>
          <a:bodyPr wrap="square" lIns="0" tIns="0" rIns="0" bIns="0" rtlCol="0" anchor="t"/>
          <a:lstStyle/>
          <a:p>
            <a:pPr indent="0" marL="0">
              <a:buNone/>
            </a:pPr>
            <a:r>
              <a:rPr lang="en-US" sz="1200" dirty="0">
                <a:solidFill>
                  <a:srgbClr val="6B7A82"/>
                </a:solidFill>
                <a:latin typeface="Calibri" pitchFamily="34" charset="0"/>
                <a:ea typeface="Calibri" pitchFamily="34" charset="-122"/>
                <a:cs typeface="Calibri" pitchFamily="34" charset="-120"/>
              </a:rPr>
              <a:t>Remaining four sites. Legacy goes read-only, then decommissions.</a:t>
            </a:r>
            <a:endParaRPr lang="en-US" sz="1200" dirty="0"/>
          </a:p>
        </p:txBody>
      </p:sp>
      <p:sp>
        <p:nvSpPr>
          <p:cNvPr id="30" name="Shape 28"/>
          <p:cNvSpPr/>
          <p:nvPr/>
        </p:nvSpPr>
        <p:spPr>
          <a:xfrm>
            <a:off x="1097280" y="5257800"/>
            <a:ext cx="18288" cy="274320"/>
          </a:xfrm>
          <a:prstGeom prst="rect">
            <a:avLst/>
          </a:prstGeom>
          <a:solidFill>
            <a:srgbClr val="D6DDE0"/>
          </a:solidFill>
          <a:ln/>
        </p:spPr>
      </p:sp>
      <p:sp>
        <p:nvSpPr>
          <p:cNvPr id="31" name="Shape 29"/>
          <p:cNvSpPr/>
          <p:nvPr/>
        </p:nvSpPr>
        <p:spPr>
          <a:xfrm>
            <a:off x="548640" y="5532120"/>
            <a:ext cx="1143000" cy="566928"/>
          </a:xfrm>
          <a:prstGeom prst="roundRect">
            <a:avLst>
              <a:gd name="adj" fmla="val 8065"/>
            </a:avLst>
          </a:prstGeom>
          <a:solidFill>
            <a:srgbClr val="2B3A42"/>
          </a:solidFill>
          <a:ln/>
        </p:spPr>
      </p:sp>
      <p:sp>
        <p:nvSpPr>
          <p:cNvPr id="32" name="Text 30"/>
          <p:cNvSpPr/>
          <p:nvPr/>
        </p:nvSpPr>
        <p:spPr>
          <a:xfrm>
            <a:off x="548640" y="5532120"/>
            <a:ext cx="114300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M18+</a:t>
            </a:r>
            <a:endParaRPr lang="en-US" sz="1300" dirty="0"/>
          </a:p>
        </p:txBody>
      </p:sp>
      <p:sp>
        <p:nvSpPr>
          <p:cNvPr id="33" name="Text 31"/>
          <p:cNvSpPr/>
          <p:nvPr/>
        </p:nvSpPr>
        <p:spPr>
          <a:xfrm>
            <a:off x="1874520" y="5513832"/>
            <a:ext cx="2743200" cy="292608"/>
          </a:xfrm>
          <a:prstGeom prst="rect">
            <a:avLst/>
          </a:prstGeom>
          <a:noFill/>
          <a:ln/>
        </p:spPr>
        <p:txBody>
          <a:bodyPr wrap="square" lIns="0" tIns="0" rIns="0" bIns="0" rtlCol="0" anchor="ctr"/>
          <a:lstStyle/>
          <a:p>
            <a:pPr indent="0" marL="0">
              <a:buNone/>
            </a:pPr>
            <a:r>
              <a:rPr lang="en-US" sz="1500" b="1" dirty="0">
                <a:solidFill>
                  <a:srgbClr val="2B3A42"/>
                </a:solidFill>
                <a:latin typeface="Calibri" pitchFamily="34" charset="0"/>
                <a:ea typeface="Calibri" pitchFamily="34" charset="-122"/>
                <a:cs typeface="Calibri" pitchFamily="34" charset="-120"/>
              </a:rPr>
              <a:t>Value phase</a:t>
            </a:r>
            <a:endParaRPr lang="en-US" sz="1500" dirty="0"/>
          </a:p>
        </p:txBody>
      </p:sp>
      <p:sp>
        <p:nvSpPr>
          <p:cNvPr id="34" name="Text 32"/>
          <p:cNvSpPr/>
          <p:nvPr/>
        </p:nvSpPr>
        <p:spPr>
          <a:xfrm>
            <a:off x="1874520" y="5788152"/>
            <a:ext cx="9418320" cy="365760"/>
          </a:xfrm>
          <a:prstGeom prst="rect">
            <a:avLst/>
          </a:prstGeom>
          <a:noFill/>
          <a:ln/>
        </p:spPr>
        <p:txBody>
          <a:bodyPr wrap="square" lIns="0" tIns="0" rIns="0" bIns="0" rtlCol="0" anchor="t"/>
          <a:lstStyle/>
          <a:p>
            <a:pPr indent="0" marL="0">
              <a:buNone/>
            </a:pPr>
            <a:r>
              <a:rPr lang="en-US" sz="1200" dirty="0">
                <a:solidFill>
                  <a:srgbClr val="6B7A82"/>
                </a:solidFill>
                <a:latin typeface="Calibri" pitchFamily="34" charset="0"/>
                <a:ea typeface="Calibri" pitchFamily="34" charset="-122"/>
                <a:cs typeface="Calibri" pitchFamily="34" charset="-120"/>
              </a:rPr>
              <a:t>CPQ, service management, advanced analytics. The things we deliberately deferred.</a:t>
            </a:r>
            <a:endParaRPr lang="en-US" sz="1200" dirty="0"/>
          </a:p>
        </p:txBody>
      </p:sp>
      <p:sp>
        <p:nvSpPr>
          <p:cNvPr id="35" name="Text 33"/>
          <p:cNvSpPr/>
          <p:nvPr/>
        </p:nvSpPr>
        <p:spPr>
          <a:xfrm>
            <a:off x="1874520" y="6309360"/>
            <a:ext cx="9418320" cy="365760"/>
          </a:xfrm>
          <a:prstGeom prst="rect">
            <a:avLst/>
          </a:prstGeom>
          <a:noFill/>
          <a:ln/>
        </p:spPr>
        <p:txBody>
          <a:bodyPr wrap="square" lIns="0" tIns="0" rIns="0" bIns="0" rtlCol="0" anchor="ctr"/>
          <a:lstStyle/>
          <a:p>
            <a:pPr indent="0" marL="0">
              <a:buNone/>
            </a:pPr>
            <a:r>
              <a:rPr lang="en-US" sz="1300" b="1" i="1" dirty="0">
                <a:solidFill>
                  <a:srgbClr val="2B3A42"/>
                </a:solidFill>
                <a:latin typeface="Calibri" pitchFamily="34" charset="0"/>
                <a:ea typeface="Calibri" pitchFamily="34" charset="-122"/>
                <a:cs typeface="Calibri" pitchFamily="34" charset="-120"/>
              </a:rPr>
              <a:t>Scope freezes at M6. Anything raised after that goes to the Phase 2 backlog by default, not to a debate.</a:t>
            </a:r>
            <a:endParaRPr lang="en-US" sz="1300" dirty="0"/>
          </a:p>
        </p:txBody>
      </p:sp>
      <p:sp>
        <p:nvSpPr>
          <p:cNvPr id="36" name="Text 34"/>
          <p:cNvSpPr/>
          <p:nvPr/>
        </p:nvSpPr>
        <p:spPr>
          <a:xfrm>
            <a:off x="548640" y="6419088"/>
            <a:ext cx="5486400" cy="228600"/>
          </a:xfrm>
          <a:prstGeom prst="rect">
            <a:avLst/>
          </a:prstGeom>
          <a:noFill/>
          <a:ln/>
        </p:spPr>
        <p:txBody>
          <a:bodyPr wrap="square" lIns="0" tIns="0" rIns="0" bIns="0" rtlCol="0" anchor="ctr"/>
          <a:lstStyle/>
          <a:p>
            <a:pPr indent="0" marL="0">
              <a:buNone/>
            </a:pPr>
            <a:r>
              <a:rPr lang="en-US" sz="850" dirty="0">
                <a:solidFill>
                  <a:srgbClr val="6B7A82"/>
                </a:solidFill>
                <a:latin typeface="Calibri" pitchFamily="34" charset="0"/>
                <a:ea typeface="Calibri" pitchFamily="34" charset="-122"/>
                <a:cs typeface="Calibri" pitchFamily="34" charset="-120"/>
              </a:rPr>
              <a:t>AMG ERP Transformation  |  Confidential</a:t>
            </a:r>
            <a:endParaRPr lang="en-US" sz="850" dirty="0"/>
          </a:p>
        </p:txBody>
      </p:sp>
      <p:sp>
        <p:nvSpPr>
          <p:cNvPr id="37" name="Text 35"/>
          <p:cNvSpPr/>
          <p:nvPr/>
        </p:nvSpPr>
        <p:spPr>
          <a:xfrm>
            <a:off x="11064240" y="6419088"/>
            <a:ext cx="548640" cy="228600"/>
          </a:xfrm>
          <a:prstGeom prst="rect">
            <a:avLst/>
          </a:prstGeom>
          <a:noFill/>
          <a:ln/>
        </p:spPr>
        <p:txBody>
          <a:bodyPr wrap="square" lIns="0" tIns="0" rIns="0" bIns="0" rtlCol="0" anchor="ctr"/>
          <a:lstStyle/>
          <a:p>
            <a:pPr algn="r" indent="0" marL="0">
              <a:buNone/>
            </a:pPr>
            <a:r>
              <a:rPr lang="en-US" sz="850" dirty="0">
                <a:solidFill>
                  <a:srgbClr val="6B7A82"/>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10896" cy="310896"/>
          </a:xfrm>
          <a:prstGeom prst="rect">
            <a:avLst/>
          </a:prstGeom>
          <a:solidFill>
            <a:srgbClr val="C25E00"/>
          </a:solidFill>
          <a:ln/>
        </p:spPr>
      </p:sp>
      <p:sp>
        <p:nvSpPr>
          <p:cNvPr id="3" name="Text 1"/>
          <p:cNvSpPr/>
          <p:nvPr/>
        </p:nvSpPr>
        <p:spPr>
          <a:xfrm>
            <a:off x="548640" y="3840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 name="Text 2"/>
          <p:cNvSpPr/>
          <p:nvPr/>
        </p:nvSpPr>
        <p:spPr>
          <a:xfrm>
            <a:off x="987552" y="347472"/>
            <a:ext cx="10607040" cy="402336"/>
          </a:xfrm>
          <a:prstGeom prst="rect">
            <a:avLst/>
          </a:prstGeom>
          <a:noFill/>
          <a:ln/>
        </p:spPr>
        <p:txBody>
          <a:bodyPr wrap="square" lIns="0" tIns="0" rIns="0" bIns="0" rtlCol="0" anchor="ctr"/>
          <a:lstStyle/>
          <a:p>
            <a:pPr algn="l" indent="0" marL="0">
              <a:buNone/>
            </a:pPr>
            <a:r>
              <a:rPr lang="en-US" sz="2700" b="1" dirty="0">
                <a:solidFill>
                  <a:srgbClr val="2B3A42"/>
                </a:solidFill>
                <a:latin typeface="Cambria" pitchFamily="34" charset="0"/>
                <a:ea typeface="Cambria" pitchFamily="34" charset="-122"/>
                <a:cs typeface="Cambria" pitchFamily="34" charset="-120"/>
              </a:rPr>
              <a:t>Top risks, and what we do about them</a:t>
            </a:r>
            <a:endParaRPr lang="en-US" sz="2700" dirty="0"/>
          </a:p>
        </p:txBody>
      </p:sp>
      <p:sp>
        <p:nvSpPr>
          <p:cNvPr id="5" name="Shape 3"/>
          <p:cNvSpPr/>
          <p:nvPr/>
        </p:nvSpPr>
        <p:spPr>
          <a:xfrm>
            <a:off x="548640" y="1280160"/>
            <a:ext cx="5394960" cy="1508760"/>
          </a:xfrm>
          <a:prstGeom prst="roundRect">
            <a:avLst>
              <a:gd name="adj" fmla="val 3636"/>
            </a:avLst>
          </a:prstGeom>
          <a:solidFill>
            <a:srgbClr val="F2F4F5"/>
          </a:solidFill>
          <a:ln w="9525">
            <a:solidFill>
              <a:srgbClr val="D6DDE0"/>
            </a:solidFill>
            <a:prstDash val="solid"/>
          </a:ln>
        </p:spPr>
      </p:sp>
      <p:sp>
        <p:nvSpPr>
          <p:cNvPr id="6" name="Text 4"/>
          <p:cNvSpPr/>
          <p:nvPr/>
        </p:nvSpPr>
        <p:spPr>
          <a:xfrm>
            <a:off x="804672" y="1408176"/>
            <a:ext cx="4892040" cy="274320"/>
          </a:xfrm>
          <a:prstGeom prst="rect">
            <a:avLst/>
          </a:prstGeom>
          <a:noFill/>
          <a:ln/>
        </p:spPr>
        <p:txBody>
          <a:bodyPr wrap="square" lIns="0" tIns="0" rIns="0" bIns="0" rtlCol="0" anchor="ctr"/>
          <a:lstStyle/>
          <a:p>
            <a:pPr indent="0" marL="0">
              <a:buNone/>
            </a:pPr>
            <a:r>
              <a:rPr lang="en-US" sz="1450" b="1" dirty="0">
                <a:solidFill>
                  <a:srgbClr val="2B3A42"/>
                </a:solidFill>
                <a:latin typeface="Calibri" pitchFamily="34" charset="0"/>
                <a:ea typeface="Calibri" pitchFamily="34" charset="-122"/>
                <a:cs typeface="Calibri" pitchFamily="34" charset="-120"/>
              </a:rPr>
              <a:t>Item master and BOM data quality</a:t>
            </a:r>
            <a:endParaRPr lang="en-US" sz="1450" dirty="0"/>
          </a:p>
        </p:txBody>
      </p:sp>
      <p:sp>
        <p:nvSpPr>
          <p:cNvPr id="7" name="Text 5"/>
          <p:cNvSpPr/>
          <p:nvPr/>
        </p:nvSpPr>
        <p:spPr>
          <a:xfrm>
            <a:off x="804672" y="1700784"/>
            <a:ext cx="4892040" cy="256032"/>
          </a:xfrm>
          <a:prstGeom prst="rect">
            <a:avLst/>
          </a:prstGeom>
          <a:noFill/>
          <a:ln/>
        </p:spPr>
        <p:txBody>
          <a:bodyPr wrap="square" lIns="0" tIns="0" rIns="0" bIns="0" rtlCol="0" anchor="t"/>
          <a:lstStyle/>
          <a:p>
            <a:pPr indent="0" marL="0">
              <a:buNone/>
            </a:pPr>
            <a:r>
              <a:rPr lang="en-US" sz="1150" i="1" dirty="0">
                <a:solidFill>
                  <a:srgbClr val="6B7A82"/>
                </a:solidFill>
                <a:latin typeface="Calibri" pitchFamily="34" charset="0"/>
                <a:ea typeface="Calibri" pitchFamily="34" charset="-122"/>
                <a:cs typeface="Calibri" pitchFamily="34" charset="-120"/>
              </a:rPr>
              <a:t>Twenty years of accumulation behind a sync that already fails.</a:t>
            </a:r>
            <a:endParaRPr lang="en-US" sz="1150" dirty="0"/>
          </a:p>
        </p:txBody>
      </p:sp>
      <p:sp>
        <p:nvSpPr>
          <p:cNvPr id="8" name="Shape 6"/>
          <p:cNvSpPr/>
          <p:nvPr/>
        </p:nvSpPr>
        <p:spPr>
          <a:xfrm>
            <a:off x="804672" y="2011680"/>
            <a:ext cx="457200" cy="18288"/>
          </a:xfrm>
          <a:prstGeom prst="rect">
            <a:avLst/>
          </a:prstGeom>
          <a:solidFill>
            <a:srgbClr val="C25E00"/>
          </a:solidFill>
          <a:ln/>
        </p:spPr>
      </p:sp>
      <p:sp>
        <p:nvSpPr>
          <p:cNvPr id="9" name="Text 7"/>
          <p:cNvSpPr/>
          <p:nvPr/>
        </p:nvSpPr>
        <p:spPr>
          <a:xfrm>
            <a:off x="804672" y="2103120"/>
            <a:ext cx="4892040" cy="594360"/>
          </a:xfrm>
          <a:prstGeom prst="rect">
            <a:avLst/>
          </a:prstGeom>
          <a:noFill/>
          <a:ln/>
        </p:spPr>
        <p:txBody>
          <a:bodyPr wrap="square" lIns="0" tIns="0" rIns="0" bIns="0" rtlCol="0" anchor="t"/>
          <a:lstStyle/>
          <a:p>
            <a:pPr indent="0" marL="0">
              <a:lnSpc>
                <a:spcPts val="1500"/>
              </a:lnSpc>
              <a:buNone/>
            </a:pPr>
            <a:r>
              <a:rPr lang="en-US" sz="1150" dirty="0">
                <a:solidFill>
                  <a:srgbClr val="2B3A42"/>
                </a:solidFill>
                <a:latin typeface="Calibri" pitchFamily="34" charset="0"/>
                <a:ea typeface="Calibri" pitchFamily="34" charset="-122"/>
                <a:cs typeface="Calibri" pitchFamily="34" charset="-120"/>
              </a:rPr>
              <a:t>Named owner per domain. Cleanse in legacy, not in the load. Hard entry criteria per mock. Finance signs every reconciliation.</a:t>
            </a:r>
            <a:endParaRPr lang="en-US" sz="1150" dirty="0"/>
          </a:p>
        </p:txBody>
      </p:sp>
      <p:sp>
        <p:nvSpPr>
          <p:cNvPr id="10" name="Shape 8"/>
          <p:cNvSpPr/>
          <p:nvPr/>
        </p:nvSpPr>
        <p:spPr>
          <a:xfrm>
            <a:off x="6217920" y="1280160"/>
            <a:ext cx="5394960" cy="1508760"/>
          </a:xfrm>
          <a:prstGeom prst="roundRect">
            <a:avLst>
              <a:gd name="adj" fmla="val 3636"/>
            </a:avLst>
          </a:prstGeom>
          <a:solidFill>
            <a:srgbClr val="F2F4F5"/>
          </a:solidFill>
          <a:ln w="9525">
            <a:solidFill>
              <a:srgbClr val="D6DDE0"/>
            </a:solidFill>
            <a:prstDash val="solid"/>
          </a:ln>
        </p:spPr>
      </p:sp>
      <p:sp>
        <p:nvSpPr>
          <p:cNvPr id="11" name="Text 9"/>
          <p:cNvSpPr/>
          <p:nvPr/>
        </p:nvSpPr>
        <p:spPr>
          <a:xfrm>
            <a:off x="6473952" y="1408176"/>
            <a:ext cx="4892040" cy="274320"/>
          </a:xfrm>
          <a:prstGeom prst="rect">
            <a:avLst/>
          </a:prstGeom>
          <a:noFill/>
          <a:ln/>
        </p:spPr>
        <p:txBody>
          <a:bodyPr wrap="square" lIns="0" tIns="0" rIns="0" bIns="0" rtlCol="0" anchor="ctr"/>
          <a:lstStyle/>
          <a:p>
            <a:pPr indent="0" marL="0">
              <a:buNone/>
            </a:pPr>
            <a:r>
              <a:rPr lang="en-US" sz="1450" b="1" dirty="0">
                <a:solidFill>
                  <a:srgbClr val="2B3A42"/>
                </a:solidFill>
                <a:latin typeface="Calibri" pitchFamily="34" charset="0"/>
                <a:ea typeface="Calibri" pitchFamily="34" charset="-122"/>
                <a:cs typeface="Calibri" pitchFamily="34" charset="-120"/>
              </a:rPr>
              <a:t>Scope creep and legacy habit</a:t>
            </a:r>
            <a:endParaRPr lang="en-US" sz="1450" dirty="0"/>
          </a:p>
        </p:txBody>
      </p:sp>
      <p:sp>
        <p:nvSpPr>
          <p:cNvPr id="12" name="Text 10"/>
          <p:cNvSpPr/>
          <p:nvPr/>
        </p:nvSpPr>
        <p:spPr>
          <a:xfrm>
            <a:off x="6473952" y="1700784"/>
            <a:ext cx="4892040" cy="256032"/>
          </a:xfrm>
          <a:prstGeom prst="rect">
            <a:avLst/>
          </a:prstGeom>
          <a:noFill/>
          <a:ln/>
        </p:spPr>
        <p:txBody>
          <a:bodyPr wrap="square" lIns="0" tIns="0" rIns="0" bIns="0" rtlCol="0" anchor="t"/>
          <a:lstStyle/>
          <a:p>
            <a:pPr indent="0" marL="0">
              <a:buNone/>
            </a:pPr>
            <a:r>
              <a:rPr lang="en-US" sz="1150" i="1" dirty="0">
                <a:solidFill>
                  <a:srgbClr val="6B7A82"/>
                </a:solidFill>
                <a:latin typeface="Calibri" pitchFamily="34" charset="0"/>
                <a:ea typeface="Calibri" pitchFamily="34" charset="-122"/>
                <a:cs typeface="Calibri" pitchFamily="34" charset="-120"/>
              </a:rPr>
              <a:t>Eighty users with twenty years of muscle memory.</a:t>
            </a:r>
            <a:endParaRPr lang="en-US" sz="1150" dirty="0"/>
          </a:p>
        </p:txBody>
      </p:sp>
      <p:sp>
        <p:nvSpPr>
          <p:cNvPr id="13" name="Shape 11"/>
          <p:cNvSpPr/>
          <p:nvPr/>
        </p:nvSpPr>
        <p:spPr>
          <a:xfrm>
            <a:off x="6473952" y="2011680"/>
            <a:ext cx="457200" cy="18288"/>
          </a:xfrm>
          <a:prstGeom prst="rect">
            <a:avLst/>
          </a:prstGeom>
          <a:solidFill>
            <a:srgbClr val="C25E00"/>
          </a:solidFill>
          <a:ln/>
        </p:spPr>
      </p:sp>
      <p:sp>
        <p:nvSpPr>
          <p:cNvPr id="14" name="Text 12"/>
          <p:cNvSpPr/>
          <p:nvPr/>
        </p:nvSpPr>
        <p:spPr>
          <a:xfrm>
            <a:off x="6473952" y="2103120"/>
            <a:ext cx="4892040" cy="594360"/>
          </a:xfrm>
          <a:prstGeom prst="rect">
            <a:avLst/>
          </a:prstGeom>
          <a:noFill/>
          <a:ln/>
        </p:spPr>
        <p:txBody>
          <a:bodyPr wrap="square" lIns="0" tIns="0" rIns="0" bIns="0" rtlCol="0" anchor="t"/>
          <a:lstStyle/>
          <a:p>
            <a:pPr indent="0" marL="0">
              <a:lnSpc>
                <a:spcPts val="1500"/>
              </a:lnSpc>
              <a:buNone/>
            </a:pPr>
            <a:r>
              <a:rPr lang="en-US" sz="1150" dirty="0">
                <a:solidFill>
                  <a:srgbClr val="2B3A42"/>
                </a:solidFill>
                <a:latin typeface="Calibri" pitchFamily="34" charset="0"/>
                <a:ea typeface="Calibri" pitchFamily="34" charset="-122"/>
                <a:cs typeface="Calibri" pitchFamily="34" charset="-120"/>
              </a:rPr>
              <a:t>Fit-to-standard by default. Change board requiring an exec sponsor and a dollar figure. Contingency held by steering, not the PM.</a:t>
            </a:r>
            <a:endParaRPr lang="en-US" sz="1150" dirty="0"/>
          </a:p>
        </p:txBody>
      </p:sp>
      <p:sp>
        <p:nvSpPr>
          <p:cNvPr id="15" name="Shape 13"/>
          <p:cNvSpPr/>
          <p:nvPr/>
        </p:nvSpPr>
        <p:spPr>
          <a:xfrm>
            <a:off x="548640" y="2971800"/>
            <a:ext cx="5394960" cy="1508760"/>
          </a:xfrm>
          <a:prstGeom prst="roundRect">
            <a:avLst>
              <a:gd name="adj" fmla="val 3636"/>
            </a:avLst>
          </a:prstGeom>
          <a:solidFill>
            <a:srgbClr val="F2F4F5"/>
          </a:solidFill>
          <a:ln w="9525">
            <a:solidFill>
              <a:srgbClr val="D6DDE0"/>
            </a:solidFill>
            <a:prstDash val="solid"/>
          </a:ln>
        </p:spPr>
      </p:sp>
      <p:sp>
        <p:nvSpPr>
          <p:cNvPr id="16" name="Text 14"/>
          <p:cNvSpPr/>
          <p:nvPr/>
        </p:nvSpPr>
        <p:spPr>
          <a:xfrm>
            <a:off x="804672" y="3099816"/>
            <a:ext cx="4892040" cy="274320"/>
          </a:xfrm>
          <a:prstGeom prst="rect">
            <a:avLst/>
          </a:prstGeom>
          <a:noFill/>
          <a:ln/>
        </p:spPr>
        <p:txBody>
          <a:bodyPr wrap="square" lIns="0" tIns="0" rIns="0" bIns="0" rtlCol="0" anchor="ctr"/>
          <a:lstStyle/>
          <a:p>
            <a:pPr indent="0" marL="0">
              <a:buNone/>
            </a:pPr>
            <a:r>
              <a:rPr lang="en-US" sz="1450" b="1" dirty="0">
                <a:solidFill>
                  <a:srgbClr val="2B3A42"/>
                </a:solidFill>
                <a:latin typeface="Calibri" pitchFamily="34" charset="0"/>
                <a:ea typeface="Calibri" pitchFamily="34" charset="-122"/>
                <a:cs typeface="Calibri" pitchFamily="34" charset="-120"/>
              </a:rPr>
              <a:t>SME capacity</a:t>
            </a:r>
            <a:endParaRPr lang="en-US" sz="1450" dirty="0"/>
          </a:p>
        </p:txBody>
      </p:sp>
      <p:sp>
        <p:nvSpPr>
          <p:cNvPr id="17" name="Text 15"/>
          <p:cNvSpPr/>
          <p:nvPr/>
        </p:nvSpPr>
        <p:spPr>
          <a:xfrm>
            <a:off x="804672" y="3392424"/>
            <a:ext cx="4892040" cy="256032"/>
          </a:xfrm>
          <a:prstGeom prst="rect">
            <a:avLst/>
          </a:prstGeom>
          <a:noFill/>
          <a:ln/>
        </p:spPr>
        <p:txBody>
          <a:bodyPr wrap="square" lIns="0" tIns="0" rIns="0" bIns="0" rtlCol="0" anchor="t"/>
          <a:lstStyle/>
          <a:p>
            <a:pPr indent="0" marL="0">
              <a:buNone/>
            </a:pPr>
            <a:r>
              <a:rPr lang="en-US" sz="1150" i="1" dirty="0">
                <a:solidFill>
                  <a:srgbClr val="6B7A82"/>
                </a:solidFill>
                <a:latin typeface="Calibri" pitchFamily="34" charset="0"/>
                <a:ea typeface="Calibri" pitchFamily="34" charset="-122"/>
                <a:cs typeface="Calibri" pitchFamily="34" charset="-120"/>
              </a:rPr>
              <a:t>200 people. The ones who know the process run the plant.</a:t>
            </a:r>
            <a:endParaRPr lang="en-US" sz="1150" dirty="0"/>
          </a:p>
        </p:txBody>
      </p:sp>
      <p:sp>
        <p:nvSpPr>
          <p:cNvPr id="18" name="Shape 16"/>
          <p:cNvSpPr/>
          <p:nvPr/>
        </p:nvSpPr>
        <p:spPr>
          <a:xfrm>
            <a:off x="804672" y="3703320"/>
            <a:ext cx="457200" cy="18288"/>
          </a:xfrm>
          <a:prstGeom prst="rect">
            <a:avLst/>
          </a:prstGeom>
          <a:solidFill>
            <a:srgbClr val="C25E00"/>
          </a:solidFill>
          <a:ln/>
        </p:spPr>
      </p:sp>
      <p:sp>
        <p:nvSpPr>
          <p:cNvPr id="19" name="Text 17"/>
          <p:cNvSpPr/>
          <p:nvPr/>
        </p:nvSpPr>
        <p:spPr>
          <a:xfrm>
            <a:off x="804672" y="3794760"/>
            <a:ext cx="4892040" cy="594360"/>
          </a:xfrm>
          <a:prstGeom prst="rect">
            <a:avLst/>
          </a:prstGeom>
          <a:noFill/>
          <a:ln/>
        </p:spPr>
        <p:txBody>
          <a:bodyPr wrap="square" lIns="0" tIns="0" rIns="0" bIns="0" rtlCol="0" anchor="t"/>
          <a:lstStyle/>
          <a:p>
            <a:pPr indent="0" marL="0">
              <a:lnSpc>
                <a:spcPts val="1500"/>
              </a:lnSpc>
              <a:buNone/>
            </a:pPr>
            <a:r>
              <a:rPr lang="en-US" sz="1150" dirty="0">
                <a:solidFill>
                  <a:srgbClr val="2B3A42"/>
                </a:solidFill>
                <a:latin typeface="Calibri" pitchFamily="34" charset="0"/>
                <a:ea typeface="Calibri" pitchFamily="34" charset="-122"/>
                <a:cs typeface="Calibri" pitchFamily="34" charset="-120"/>
              </a:rPr>
              <a:t>Six SMEs named, funded, backfilled, ring-fenced from M0. Availability tracked weekly as a schedule risk.</a:t>
            </a:r>
            <a:endParaRPr lang="en-US" sz="1150" dirty="0"/>
          </a:p>
        </p:txBody>
      </p:sp>
      <p:sp>
        <p:nvSpPr>
          <p:cNvPr id="20" name="Shape 18"/>
          <p:cNvSpPr/>
          <p:nvPr/>
        </p:nvSpPr>
        <p:spPr>
          <a:xfrm>
            <a:off x="6217920" y="2971800"/>
            <a:ext cx="5394960" cy="1508760"/>
          </a:xfrm>
          <a:prstGeom prst="roundRect">
            <a:avLst>
              <a:gd name="adj" fmla="val 3636"/>
            </a:avLst>
          </a:prstGeom>
          <a:solidFill>
            <a:srgbClr val="F2F4F5"/>
          </a:solidFill>
          <a:ln w="9525">
            <a:solidFill>
              <a:srgbClr val="D6DDE0"/>
            </a:solidFill>
            <a:prstDash val="solid"/>
          </a:ln>
        </p:spPr>
      </p:sp>
      <p:sp>
        <p:nvSpPr>
          <p:cNvPr id="21" name="Text 19"/>
          <p:cNvSpPr/>
          <p:nvPr/>
        </p:nvSpPr>
        <p:spPr>
          <a:xfrm>
            <a:off x="6473952" y="3099816"/>
            <a:ext cx="4892040" cy="274320"/>
          </a:xfrm>
          <a:prstGeom prst="rect">
            <a:avLst/>
          </a:prstGeom>
          <a:noFill/>
          <a:ln/>
        </p:spPr>
        <p:txBody>
          <a:bodyPr wrap="square" lIns="0" tIns="0" rIns="0" bIns="0" rtlCol="0" anchor="ctr"/>
          <a:lstStyle/>
          <a:p>
            <a:pPr indent="0" marL="0">
              <a:buNone/>
            </a:pPr>
            <a:r>
              <a:rPr lang="en-US" sz="1450" b="1" dirty="0">
                <a:solidFill>
                  <a:srgbClr val="2B3A42"/>
                </a:solidFill>
                <a:latin typeface="Calibri" pitchFamily="34" charset="0"/>
                <a:ea typeface="Calibri" pitchFamily="34" charset="-122"/>
                <a:cs typeface="Calibri" pitchFamily="34" charset="-120"/>
              </a:rPr>
              <a:t>Engineer-to-order fit</a:t>
            </a:r>
            <a:endParaRPr lang="en-US" sz="1450" dirty="0"/>
          </a:p>
        </p:txBody>
      </p:sp>
      <p:sp>
        <p:nvSpPr>
          <p:cNvPr id="22" name="Text 20"/>
          <p:cNvSpPr/>
          <p:nvPr/>
        </p:nvSpPr>
        <p:spPr>
          <a:xfrm>
            <a:off x="6473952" y="3392424"/>
            <a:ext cx="4892040" cy="256032"/>
          </a:xfrm>
          <a:prstGeom prst="rect">
            <a:avLst/>
          </a:prstGeom>
          <a:noFill/>
          <a:ln/>
        </p:spPr>
        <p:txBody>
          <a:bodyPr wrap="square" lIns="0" tIns="0" rIns="0" bIns="0" rtlCol="0" anchor="t"/>
          <a:lstStyle/>
          <a:p>
            <a:pPr indent="0" marL="0">
              <a:buNone/>
            </a:pPr>
            <a:r>
              <a:rPr lang="en-US" sz="1150" i="1" dirty="0">
                <a:solidFill>
                  <a:srgbClr val="6B7A82"/>
                </a:solidFill>
                <a:latin typeface="Calibri" pitchFamily="34" charset="0"/>
                <a:ea typeface="Calibri" pitchFamily="34" charset="-122"/>
                <a:cs typeface="Calibri" pitchFamily="34" charset="-120"/>
              </a:rPr>
              <a:t>Mid-build engineering change is where these programs die.</a:t>
            </a:r>
            <a:endParaRPr lang="en-US" sz="1150" dirty="0"/>
          </a:p>
        </p:txBody>
      </p:sp>
      <p:sp>
        <p:nvSpPr>
          <p:cNvPr id="23" name="Shape 21"/>
          <p:cNvSpPr/>
          <p:nvPr/>
        </p:nvSpPr>
        <p:spPr>
          <a:xfrm>
            <a:off x="6473952" y="3703320"/>
            <a:ext cx="457200" cy="18288"/>
          </a:xfrm>
          <a:prstGeom prst="rect">
            <a:avLst/>
          </a:prstGeom>
          <a:solidFill>
            <a:srgbClr val="C25E00"/>
          </a:solidFill>
          <a:ln/>
        </p:spPr>
      </p:sp>
      <p:sp>
        <p:nvSpPr>
          <p:cNvPr id="24" name="Text 22"/>
          <p:cNvSpPr/>
          <p:nvPr/>
        </p:nvSpPr>
        <p:spPr>
          <a:xfrm>
            <a:off x="6473952" y="3794760"/>
            <a:ext cx="4892040" cy="594360"/>
          </a:xfrm>
          <a:prstGeom prst="rect">
            <a:avLst/>
          </a:prstGeom>
          <a:noFill/>
          <a:ln/>
        </p:spPr>
        <p:txBody>
          <a:bodyPr wrap="square" lIns="0" tIns="0" rIns="0" bIns="0" rtlCol="0" anchor="t"/>
          <a:lstStyle/>
          <a:p>
            <a:pPr indent="0" marL="0">
              <a:lnSpc>
                <a:spcPts val="1500"/>
              </a:lnSpc>
              <a:buNone/>
            </a:pPr>
            <a:r>
              <a:rPr lang="en-US" sz="1150" dirty="0">
                <a:solidFill>
                  <a:srgbClr val="2B3A42"/>
                </a:solidFill>
                <a:latin typeface="Calibri" pitchFamily="34" charset="0"/>
                <a:ea typeface="Calibri" pitchFamily="34" charset="-122"/>
                <a:cs typeface="Calibri" pitchFamily="34" charset="-120"/>
              </a:rPr>
              <a:t>Prove it in the pilot on real orders before we build. A stage gate with authority to stop the program.</a:t>
            </a:r>
            <a:endParaRPr lang="en-US" sz="1150" dirty="0"/>
          </a:p>
        </p:txBody>
      </p:sp>
      <p:sp>
        <p:nvSpPr>
          <p:cNvPr id="25" name="Shape 23"/>
          <p:cNvSpPr/>
          <p:nvPr/>
        </p:nvSpPr>
        <p:spPr>
          <a:xfrm>
            <a:off x="548640" y="4663440"/>
            <a:ext cx="5394960" cy="1508760"/>
          </a:xfrm>
          <a:prstGeom prst="roundRect">
            <a:avLst>
              <a:gd name="adj" fmla="val 3636"/>
            </a:avLst>
          </a:prstGeom>
          <a:solidFill>
            <a:srgbClr val="F2F4F5"/>
          </a:solidFill>
          <a:ln w="9525">
            <a:solidFill>
              <a:srgbClr val="D6DDE0"/>
            </a:solidFill>
            <a:prstDash val="solid"/>
          </a:ln>
        </p:spPr>
      </p:sp>
      <p:sp>
        <p:nvSpPr>
          <p:cNvPr id="26" name="Text 24"/>
          <p:cNvSpPr/>
          <p:nvPr/>
        </p:nvSpPr>
        <p:spPr>
          <a:xfrm>
            <a:off x="804672" y="4791456"/>
            <a:ext cx="4892040" cy="274320"/>
          </a:xfrm>
          <a:prstGeom prst="rect">
            <a:avLst/>
          </a:prstGeom>
          <a:noFill/>
          <a:ln/>
        </p:spPr>
        <p:txBody>
          <a:bodyPr wrap="square" lIns="0" tIns="0" rIns="0" bIns="0" rtlCol="0" anchor="ctr"/>
          <a:lstStyle/>
          <a:p>
            <a:pPr indent="0" marL="0">
              <a:buNone/>
            </a:pPr>
            <a:r>
              <a:rPr lang="en-US" sz="1450" b="1" dirty="0">
                <a:solidFill>
                  <a:srgbClr val="2B3A42"/>
                </a:solidFill>
                <a:latin typeface="Calibri" pitchFamily="34" charset="0"/>
                <a:ea typeface="Calibri" pitchFamily="34" charset="-122"/>
                <a:cs typeface="Calibri" pitchFamily="34" charset="-120"/>
              </a:rPr>
              <a:t>Cutover stops shipments</a:t>
            </a:r>
            <a:endParaRPr lang="en-US" sz="1450" dirty="0"/>
          </a:p>
        </p:txBody>
      </p:sp>
      <p:sp>
        <p:nvSpPr>
          <p:cNvPr id="27" name="Text 25"/>
          <p:cNvSpPr/>
          <p:nvPr/>
        </p:nvSpPr>
        <p:spPr>
          <a:xfrm>
            <a:off x="804672" y="5084064"/>
            <a:ext cx="4892040" cy="256032"/>
          </a:xfrm>
          <a:prstGeom prst="rect">
            <a:avLst/>
          </a:prstGeom>
          <a:noFill/>
          <a:ln/>
        </p:spPr>
        <p:txBody>
          <a:bodyPr wrap="square" lIns="0" tIns="0" rIns="0" bIns="0" rtlCol="0" anchor="t"/>
          <a:lstStyle/>
          <a:p>
            <a:pPr indent="0" marL="0">
              <a:buNone/>
            </a:pPr>
            <a:r>
              <a:rPr lang="en-US" sz="1150" i="1" dirty="0">
                <a:solidFill>
                  <a:srgbClr val="6B7A82"/>
                </a:solidFill>
                <a:latin typeface="Calibri" pitchFamily="34" charset="0"/>
                <a:ea typeface="Calibri" pitchFamily="34" charset="-122"/>
                <a:cs typeface="Calibri" pitchFamily="34" charset="-120"/>
              </a:rPr>
              <a:t>A quiet dock is the failure that reaches the Board.</a:t>
            </a:r>
            <a:endParaRPr lang="en-US" sz="1150" dirty="0"/>
          </a:p>
        </p:txBody>
      </p:sp>
      <p:sp>
        <p:nvSpPr>
          <p:cNvPr id="28" name="Shape 26"/>
          <p:cNvSpPr/>
          <p:nvPr/>
        </p:nvSpPr>
        <p:spPr>
          <a:xfrm>
            <a:off x="804672" y="5394960"/>
            <a:ext cx="457200" cy="18288"/>
          </a:xfrm>
          <a:prstGeom prst="rect">
            <a:avLst/>
          </a:prstGeom>
          <a:solidFill>
            <a:srgbClr val="C25E00"/>
          </a:solidFill>
          <a:ln/>
        </p:spPr>
      </p:sp>
      <p:sp>
        <p:nvSpPr>
          <p:cNvPr id="29" name="Text 27"/>
          <p:cNvSpPr/>
          <p:nvPr/>
        </p:nvSpPr>
        <p:spPr>
          <a:xfrm>
            <a:off x="804672" y="5486400"/>
            <a:ext cx="4892040" cy="594360"/>
          </a:xfrm>
          <a:prstGeom prst="rect">
            <a:avLst/>
          </a:prstGeom>
          <a:noFill/>
          <a:ln/>
        </p:spPr>
        <p:txBody>
          <a:bodyPr wrap="square" lIns="0" tIns="0" rIns="0" bIns="0" rtlCol="0" anchor="t"/>
          <a:lstStyle/>
          <a:p>
            <a:pPr indent="0" marL="0">
              <a:lnSpc>
                <a:spcPts val="1500"/>
              </a:lnSpc>
              <a:buNone/>
            </a:pPr>
            <a:r>
              <a:rPr lang="en-US" sz="1150" dirty="0">
                <a:solidFill>
                  <a:srgbClr val="2B3A42"/>
                </a:solidFill>
                <a:latin typeface="Calibri" pitchFamily="34" charset="0"/>
                <a:ea typeface="Calibri" pitchFamily="34" charset="-122"/>
                <a:cs typeface="Calibri" pitchFamily="34" charset="-120"/>
              </a:rPr>
              <a:t>Freeze window, pre-built safety stock, two rehearsed cutovers, written rollback with a named owner and a fixed go/no-go hour.</a:t>
            </a:r>
            <a:endParaRPr lang="en-US" sz="1150" dirty="0"/>
          </a:p>
        </p:txBody>
      </p:sp>
      <p:sp>
        <p:nvSpPr>
          <p:cNvPr id="30" name="Shape 28"/>
          <p:cNvSpPr/>
          <p:nvPr/>
        </p:nvSpPr>
        <p:spPr>
          <a:xfrm>
            <a:off x="6217920" y="4663440"/>
            <a:ext cx="5394960" cy="1508760"/>
          </a:xfrm>
          <a:prstGeom prst="roundRect">
            <a:avLst>
              <a:gd name="adj" fmla="val 3636"/>
            </a:avLst>
          </a:prstGeom>
          <a:solidFill>
            <a:srgbClr val="2B3A42"/>
          </a:solidFill>
          <a:ln/>
        </p:spPr>
      </p:sp>
      <p:sp>
        <p:nvSpPr>
          <p:cNvPr id="31" name="Text 29"/>
          <p:cNvSpPr/>
          <p:nvPr/>
        </p:nvSpPr>
        <p:spPr>
          <a:xfrm>
            <a:off x="6473952" y="4791456"/>
            <a:ext cx="4892040" cy="274320"/>
          </a:xfrm>
          <a:prstGeom prst="rect">
            <a:avLst/>
          </a:prstGeom>
          <a:noFill/>
          <a:ln/>
        </p:spPr>
        <p:txBody>
          <a:bodyPr wrap="square" lIns="0" tIns="0" rIns="0" bIns="0" rtlCol="0" anchor="ctr"/>
          <a:lstStyle/>
          <a:p>
            <a:pPr indent="0" marL="0">
              <a:buNone/>
            </a:pPr>
            <a:r>
              <a:rPr lang="en-US" sz="1300" b="1" dirty="0">
                <a:solidFill>
                  <a:srgbClr val="C25E00"/>
                </a:solidFill>
                <a:latin typeface="Calibri" pitchFamily="34" charset="0"/>
                <a:ea typeface="Calibri" pitchFamily="34" charset="-122"/>
                <a:cs typeface="Calibri" pitchFamily="34" charset="-120"/>
              </a:rPr>
              <a:t>Risk 6, and we'll be blunt</a:t>
            </a:r>
            <a:endParaRPr lang="en-US" sz="1300" dirty="0"/>
          </a:p>
        </p:txBody>
      </p:sp>
      <p:sp>
        <p:nvSpPr>
          <p:cNvPr id="32" name="Text 30"/>
          <p:cNvSpPr/>
          <p:nvPr/>
        </p:nvSpPr>
        <p:spPr>
          <a:xfrm>
            <a:off x="6473952" y="5120640"/>
            <a:ext cx="4892040" cy="914400"/>
          </a:xfrm>
          <a:prstGeom prst="rect">
            <a:avLst/>
          </a:prstGeom>
          <a:noFill/>
          <a:ln/>
        </p:spPr>
        <p:txBody>
          <a:bodyPr wrap="square" lIns="0" tIns="0" rIns="0" bIns="0" rtlCol="0" anchor="t"/>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Nobody owns margin today. That's why it erodes. A system can't own a number. Assign a person, this quarter, before the ERP arrives.</a:t>
            </a:r>
            <a:endParaRPr lang="en-US" sz="1300" dirty="0"/>
          </a:p>
        </p:txBody>
      </p:sp>
      <p:sp>
        <p:nvSpPr>
          <p:cNvPr id="33" name="Text 31"/>
          <p:cNvSpPr/>
          <p:nvPr/>
        </p:nvSpPr>
        <p:spPr>
          <a:xfrm>
            <a:off x="548640" y="6419088"/>
            <a:ext cx="5486400" cy="228600"/>
          </a:xfrm>
          <a:prstGeom prst="rect">
            <a:avLst/>
          </a:prstGeom>
          <a:noFill/>
          <a:ln/>
        </p:spPr>
        <p:txBody>
          <a:bodyPr wrap="square" lIns="0" tIns="0" rIns="0" bIns="0" rtlCol="0" anchor="ctr"/>
          <a:lstStyle/>
          <a:p>
            <a:pPr indent="0" marL="0">
              <a:buNone/>
            </a:pPr>
            <a:r>
              <a:rPr lang="en-US" sz="850" dirty="0">
                <a:solidFill>
                  <a:srgbClr val="6B7A82"/>
                </a:solidFill>
                <a:latin typeface="Calibri" pitchFamily="34" charset="0"/>
                <a:ea typeface="Calibri" pitchFamily="34" charset="-122"/>
                <a:cs typeface="Calibri" pitchFamily="34" charset="-120"/>
              </a:rPr>
              <a:t>AMG ERP Transformation  |  Confidential</a:t>
            </a:r>
            <a:endParaRPr lang="en-US" sz="850" dirty="0"/>
          </a:p>
        </p:txBody>
      </p:sp>
      <p:sp>
        <p:nvSpPr>
          <p:cNvPr id="34" name="Text 32"/>
          <p:cNvSpPr/>
          <p:nvPr/>
        </p:nvSpPr>
        <p:spPr>
          <a:xfrm>
            <a:off x="11064240" y="6419088"/>
            <a:ext cx="548640" cy="228600"/>
          </a:xfrm>
          <a:prstGeom prst="rect">
            <a:avLst/>
          </a:prstGeom>
          <a:noFill/>
          <a:ln/>
        </p:spPr>
        <p:txBody>
          <a:bodyPr wrap="square" lIns="0" tIns="0" rIns="0" bIns="0" rtlCol="0" anchor="ctr"/>
          <a:lstStyle/>
          <a:p>
            <a:pPr algn="r" indent="0" marL="0">
              <a:buNone/>
            </a:pPr>
            <a:r>
              <a:rPr lang="en-US" sz="850" dirty="0">
                <a:solidFill>
                  <a:srgbClr val="6B7A82"/>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10896" cy="310896"/>
          </a:xfrm>
          <a:prstGeom prst="rect">
            <a:avLst/>
          </a:prstGeom>
          <a:solidFill>
            <a:srgbClr val="C25E00"/>
          </a:solidFill>
          <a:ln/>
        </p:spPr>
      </p:sp>
      <p:sp>
        <p:nvSpPr>
          <p:cNvPr id="3" name="Text 1"/>
          <p:cNvSpPr/>
          <p:nvPr/>
        </p:nvSpPr>
        <p:spPr>
          <a:xfrm>
            <a:off x="548640" y="3840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 name="Text 2"/>
          <p:cNvSpPr/>
          <p:nvPr/>
        </p:nvSpPr>
        <p:spPr>
          <a:xfrm>
            <a:off x="987552" y="347472"/>
            <a:ext cx="10607040" cy="402336"/>
          </a:xfrm>
          <a:prstGeom prst="rect">
            <a:avLst/>
          </a:prstGeom>
          <a:noFill/>
          <a:ln/>
        </p:spPr>
        <p:txBody>
          <a:bodyPr wrap="square" lIns="0" tIns="0" rIns="0" bIns="0" rtlCol="0" anchor="ctr"/>
          <a:lstStyle/>
          <a:p>
            <a:pPr algn="l" indent="0" marL="0">
              <a:buNone/>
            </a:pPr>
            <a:r>
              <a:rPr lang="en-US" sz="2700" b="1" dirty="0">
                <a:solidFill>
                  <a:srgbClr val="2B3A42"/>
                </a:solidFill>
                <a:latin typeface="Cambria" pitchFamily="34" charset="0"/>
                <a:ea typeface="Cambria" pitchFamily="34" charset="-122"/>
                <a:cs typeface="Cambria" pitchFamily="34" charset="-120"/>
              </a:rPr>
              <a:t>Day 1 versus deliberately deferred</a:t>
            </a:r>
            <a:endParaRPr lang="en-US" sz="2700" dirty="0"/>
          </a:p>
        </p:txBody>
      </p:sp>
      <p:sp>
        <p:nvSpPr>
          <p:cNvPr id="5" name="Text 3"/>
          <p:cNvSpPr/>
          <p:nvPr/>
        </p:nvSpPr>
        <p:spPr>
          <a:xfrm>
            <a:off x="987552" y="786384"/>
            <a:ext cx="10607040" cy="274320"/>
          </a:xfrm>
          <a:prstGeom prst="rect">
            <a:avLst/>
          </a:prstGeom>
          <a:noFill/>
          <a:ln/>
        </p:spPr>
        <p:txBody>
          <a:bodyPr wrap="square" lIns="0" tIns="0" rIns="0" bIns="0" rtlCol="0" anchor="t"/>
          <a:lstStyle/>
          <a:p>
            <a:pPr indent="0" marL="0">
              <a:buNone/>
            </a:pPr>
            <a:r>
              <a:rPr lang="en-US" sz="1250" i="1" dirty="0">
                <a:solidFill>
                  <a:srgbClr val="6B7A82"/>
                </a:solidFill>
                <a:latin typeface="Calibri" pitchFamily="34" charset="0"/>
                <a:ea typeface="Calibri" pitchFamily="34" charset="-122"/>
                <a:cs typeface="Calibri" pitchFamily="34" charset="-120"/>
              </a:rPr>
              <a:t>Deferral isn't a downgrade. It's how Day-1 scope stays small enough to land.</a:t>
            </a:r>
            <a:endParaRPr lang="en-US" sz="1250" dirty="0"/>
          </a:p>
        </p:txBody>
      </p:sp>
      <p:sp>
        <p:nvSpPr>
          <p:cNvPr id="6" name="Shape 4"/>
          <p:cNvSpPr/>
          <p:nvPr/>
        </p:nvSpPr>
        <p:spPr>
          <a:xfrm>
            <a:off x="548640" y="1463040"/>
            <a:ext cx="5394960" cy="4663440"/>
          </a:xfrm>
          <a:prstGeom prst="roundRect">
            <a:avLst>
              <a:gd name="adj" fmla="val 1176"/>
            </a:avLst>
          </a:prstGeom>
          <a:solidFill>
            <a:srgbClr val="F2F4F5"/>
          </a:solidFill>
          <a:ln w="25400">
            <a:solidFill>
              <a:srgbClr val="C25E00"/>
            </a:solidFill>
            <a:prstDash val="solid"/>
          </a:ln>
        </p:spPr>
      </p:sp>
      <p:sp>
        <p:nvSpPr>
          <p:cNvPr id="7" name="Text 5"/>
          <p:cNvSpPr/>
          <p:nvPr/>
        </p:nvSpPr>
        <p:spPr>
          <a:xfrm>
            <a:off x="822960" y="1645920"/>
            <a:ext cx="4846320" cy="274320"/>
          </a:xfrm>
          <a:prstGeom prst="rect">
            <a:avLst/>
          </a:prstGeom>
          <a:noFill/>
          <a:ln/>
        </p:spPr>
        <p:txBody>
          <a:bodyPr wrap="square" lIns="0" tIns="0" rIns="0" bIns="0" rtlCol="0" anchor="ctr"/>
          <a:lstStyle/>
          <a:p>
            <a:pPr indent="0" marL="0">
              <a:buNone/>
            </a:pPr>
            <a:r>
              <a:rPr lang="en-US" sz="1100" b="1" spc="120" kern="0" dirty="0">
                <a:solidFill>
                  <a:srgbClr val="C25E00"/>
                </a:solidFill>
                <a:latin typeface="Calibri" pitchFamily="34" charset="0"/>
                <a:ea typeface="Calibri" pitchFamily="34" charset="-122"/>
                <a:cs typeface="Calibri" pitchFamily="34" charset="-120"/>
              </a:rPr>
              <a:t>IN AT WAVE 1  ·  NON-NEGOTIABLE</a:t>
            </a:r>
            <a:endParaRPr lang="en-US" sz="1100" dirty="0"/>
          </a:p>
        </p:txBody>
      </p:sp>
      <p:sp>
        <p:nvSpPr>
          <p:cNvPr id="8" name="Text 6"/>
          <p:cNvSpPr/>
          <p:nvPr/>
        </p:nvSpPr>
        <p:spPr>
          <a:xfrm>
            <a:off x="822960" y="2011680"/>
            <a:ext cx="4846320" cy="393192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2B3A42"/>
                </a:solidFill>
                <a:latin typeface="Calibri" pitchFamily="34" charset="0"/>
                <a:ea typeface="Calibri" pitchFamily="34" charset="-122"/>
                <a:cs typeface="Calibri" pitchFamily="34" charset="-120"/>
              </a:rPr>
              <a:t>GL, AP, AR, fixed assets, multi-entity, intercompany, consolidation, CAD/USD FX, US and Canadian tax</a:t>
            </a:r>
            <a:endParaRPr lang="en-US" sz="1200" dirty="0"/>
          </a:p>
          <a:p>
            <a:pPr marL="342900" indent="-342900">
              <a:lnSpc>
                <a:spcPts val="1600"/>
              </a:lnSpc>
              <a:spcAft>
                <a:spcPts val="800"/>
              </a:spcAft>
              <a:buSzPct val="100000"/>
              <a:buChar char="•"/>
            </a:pPr>
            <a:r>
              <a:rPr lang="en-US" sz="1200" b="1" dirty="0">
                <a:solidFill>
                  <a:srgbClr val="2B3A42"/>
                </a:solidFill>
                <a:latin typeface="Calibri" pitchFamily="34" charset="0"/>
                <a:ea typeface="Calibri" pitchFamily="34" charset="-122"/>
                <a:cs typeface="Calibri" pitchFamily="34" charset="-120"/>
              </a:rPr>
              <a:t>Item master, BOMs, routings, work centers, and a native ECN process. The engineering database retires here.</a:t>
            </a:r>
            <a:endParaRPr lang="en-US" sz="1200" dirty="0"/>
          </a:p>
          <a:p>
            <a:pPr marL="342900" indent="-342900">
              <a:lnSpc>
                <a:spcPts val="1600"/>
              </a:lnSpc>
              <a:spcAft>
                <a:spcPts val="800"/>
              </a:spcAft>
              <a:buSzPct val="100000"/>
              <a:buChar char="•"/>
            </a:pPr>
            <a:r>
              <a:rPr lang="en-US" sz="1200" dirty="0">
                <a:solidFill>
                  <a:srgbClr val="2B3A42"/>
                </a:solidFill>
                <a:latin typeface="Calibri" pitchFamily="34" charset="0"/>
                <a:ea typeface="Calibri" pitchFamily="34" charset="-122"/>
                <a:cs typeface="Calibri" pitchFamily="34" charset="-120"/>
              </a:rPr>
              <a:t>ETO order-to-cash end to end: quote, order, job, BOM, MRP, PO, production, ship, invoice</a:t>
            </a:r>
            <a:endParaRPr lang="en-US" sz="1200" dirty="0"/>
          </a:p>
          <a:p>
            <a:pPr marL="342900" indent="-342900">
              <a:lnSpc>
                <a:spcPts val="1600"/>
              </a:lnSpc>
              <a:spcAft>
                <a:spcPts val="800"/>
              </a:spcAft>
              <a:buSzPct val="100000"/>
              <a:buChar char="•"/>
            </a:pPr>
            <a:r>
              <a:rPr lang="en-US" sz="1200" dirty="0">
                <a:solidFill>
                  <a:srgbClr val="2B3A42"/>
                </a:solidFill>
                <a:latin typeface="Calibri" pitchFamily="34" charset="0"/>
                <a:ea typeface="Calibri" pitchFamily="34" charset="-122"/>
                <a:cs typeface="Calibri" pitchFamily="34" charset="-120"/>
              </a:rPr>
              <a:t>Procurement, receiving, inventory at cost</a:t>
            </a:r>
            <a:endParaRPr lang="en-US" sz="1200" dirty="0"/>
          </a:p>
          <a:p>
            <a:pPr marL="342900" indent="-342900">
              <a:lnSpc>
                <a:spcPts val="1600"/>
              </a:lnSpc>
              <a:spcAft>
                <a:spcPts val="800"/>
              </a:spcAft>
              <a:buSzPct val="100000"/>
              <a:buChar char="•"/>
            </a:pPr>
            <a:r>
              <a:rPr lang="en-US" sz="1200" b="1" dirty="0">
                <a:solidFill>
                  <a:srgbClr val="2B3A42"/>
                </a:solidFill>
                <a:latin typeface="Calibri" pitchFamily="34" charset="0"/>
                <a:ea typeface="Calibri" pitchFamily="34" charset="-122"/>
                <a:cs typeface="Calibri" pitchFamily="34" charset="-120"/>
              </a:rPr>
              <a:t>Shop floor time capture against job and operation. No labor on the job means no margin view, ever.</a:t>
            </a:r>
            <a:endParaRPr lang="en-US" sz="1200" dirty="0"/>
          </a:p>
          <a:p>
            <a:pPr marL="342900" indent="-342900">
              <a:lnSpc>
                <a:spcPts val="1600"/>
              </a:lnSpc>
              <a:spcAft>
                <a:spcPts val="800"/>
              </a:spcAft>
              <a:buSzPct val="100000"/>
              <a:buChar char="•"/>
            </a:pPr>
            <a:r>
              <a:rPr lang="en-US" sz="1200" dirty="0">
                <a:solidFill>
                  <a:srgbClr val="2B3A42"/>
                </a:solidFill>
                <a:latin typeface="Calibri" pitchFamily="34" charset="0"/>
                <a:ea typeface="Calibri" pitchFamily="34" charset="-122"/>
                <a:cs typeface="Calibri" pitchFamily="34" charset="-120"/>
              </a:rPr>
              <a:t>Job costing: estimate vs. actual, live</a:t>
            </a:r>
            <a:endParaRPr lang="en-US" sz="1200" dirty="0"/>
          </a:p>
          <a:p>
            <a:pPr marL="342900" indent="-342900">
              <a:lnSpc>
                <a:spcPts val="1600"/>
              </a:lnSpc>
              <a:spcAft>
                <a:spcPts val="800"/>
              </a:spcAft>
              <a:buSzPct val="100000"/>
              <a:buChar char="•"/>
            </a:pPr>
            <a:r>
              <a:rPr lang="en-US" sz="1200" dirty="0">
                <a:solidFill>
                  <a:srgbClr val="2B3A42"/>
                </a:solidFill>
                <a:latin typeface="Calibri" pitchFamily="34" charset="0"/>
                <a:ea typeface="Calibri" pitchFamily="34" charset="-122"/>
                <a:cs typeface="Calibri" pitchFamily="34" charset="-120"/>
              </a:rPr>
              <a:t>Aftermarket parts and service intake and billing. It's revenue. It doesn't get deferred.</a:t>
            </a:r>
            <a:endParaRPr lang="en-US" sz="1200" dirty="0"/>
          </a:p>
          <a:p>
            <a:pPr marL="342900" indent="-342900">
              <a:lnSpc>
                <a:spcPts val="1600"/>
              </a:lnSpc>
              <a:spcAft>
                <a:spcPts val="800"/>
              </a:spcAft>
              <a:buSzPct val="100000"/>
              <a:buChar char="•"/>
            </a:pPr>
            <a:r>
              <a:rPr lang="en-US" sz="1200" dirty="0">
                <a:solidFill>
                  <a:srgbClr val="2B3A42"/>
                </a:solidFill>
                <a:latin typeface="Calibri" pitchFamily="34" charset="0"/>
                <a:ea typeface="Calibri" pitchFamily="34" charset="-122"/>
                <a:cs typeface="Calibri" pitchFamily="34" charset="-120"/>
              </a:rPr>
              <a:t>Rev-rec exactly as we report it today, agreed with the auditors in M0-M2, not M11</a:t>
            </a:r>
            <a:endParaRPr lang="en-US" sz="1200" dirty="0"/>
          </a:p>
        </p:txBody>
      </p:sp>
      <p:sp>
        <p:nvSpPr>
          <p:cNvPr id="9" name="Shape 7"/>
          <p:cNvSpPr/>
          <p:nvPr/>
        </p:nvSpPr>
        <p:spPr>
          <a:xfrm>
            <a:off x="6217920" y="1463040"/>
            <a:ext cx="5394960" cy="4663440"/>
          </a:xfrm>
          <a:prstGeom prst="roundRect">
            <a:avLst>
              <a:gd name="adj" fmla="val 1176"/>
            </a:avLst>
          </a:prstGeom>
          <a:solidFill>
            <a:srgbClr val="FFFFFF"/>
          </a:solidFill>
          <a:ln w="9525">
            <a:solidFill>
              <a:srgbClr val="D6DDE0"/>
            </a:solidFill>
            <a:prstDash val="solid"/>
          </a:ln>
        </p:spPr>
      </p:sp>
      <p:sp>
        <p:nvSpPr>
          <p:cNvPr id="10" name="Text 8"/>
          <p:cNvSpPr/>
          <p:nvPr/>
        </p:nvSpPr>
        <p:spPr>
          <a:xfrm>
            <a:off x="6492240" y="1645920"/>
            <a:ext cx="4846320" cy="274320"/>
          </a:xfrm>
          <a:prstGeom prst="rect">
            <a:avLst/>
          </a:prstGeom>
          <a:noFill/>
          <a:ln/>
        </p:spPr>
        <p:txBody>
          <a:bodyPr wrap="square" lIns="0" tIns="0" rIns="0" bIns="0" rtlCol="0" anchor="ctr"/>
          <a:lstStyle/>
          <a:p>
            <a:pPr indent="0" marL="0">
              <a:buNone/>
            </a:pPr>
            <a:r>
              <a:rPr lang="en-US" sz="1100" b="1" spc="120" kern="0" dirty="0">
                <a:solidFill>
                  <a:srgbClr val="6B7A82"/>
                </a:solidFill>
                <a:latin typeface="Calibri" pitchFamily="34" charset="0"/>
                <a:ea typeface="Calibri" pitchFamily="34" charset="-122"/>
                <a:cs typeface="Calibri" pitchFamily="34" charset="-120"/>
              </a:rPr>
              <a:t>DEFERRED BY DECISION, NOT BY DRIFT</a:t>
            </a:r>
            <a:endParaRPr lang="en-US" sz="1100" dirty="0"/>
          </a:p>
        </p:txBody>
      </p:sp>
      <p:sp>
        <p:nvSpPr>
          <p:cNvPr id="11" name="Text 9"/>
          <p:cNvSpPr/>
          <p:nvPr/>
        </p:nvSpPr>
        <p:spPr>
          <a:xfrm>
            <a:off x="6492240" y="2011680"/>
            <a:ext cx="4846320" cy="237744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2B3A42"/>
                </a:solidFill>
                <a:latin typeface="Calibri" pitchFamily="34" charset="0"/>
                <a:ea typeface="Calibri" pitchFamily="34" charset="-122"/>
                <a:cs typeface="Calibri" pitchFamily="34" charset="-120"/>
              </a:rPr>
              <a:t>CPQ and product configurator</a:t>
            </a:r>
            <a:endParaRPr lang="en-US" sz="1200" dirty="0"/>
          </a:p>
          <a:p>
            <a:pPr marL="342900" indent="-342900">
              <a:lnSpc>
                <a:spcPts val="1600"/>
              </a:lnSpc>
              <a:spcAft>
                <a:spcPts val="800"/>
              </a:spcAft>
              <a:buSzPct val="100000"/>
              <a:buChar char="•"/>
            </a:pPr>
            <a:r>
              <a:rPr lang="en-US" sz="1200" dirty="0">
                <a:solidFill>
                  <a:srgbClr val="2B3A42"/>
                </a:solidFill>
                <a:latin typeface="Calibri" pitchFamily="34" charset="0"/>
                <a:ea typeface="Calibri" pitchFamily="34" charset="-122"/>
                <a:cs typeface="Calibri" pitchFamily="34" charset="-120"/>
              </a:rPr>
              <a:t>Field service scheduling</a:t>
            </a:r>
            <a:endParaRPr lang="en-US" sz="1200" dirty="0"/>
          </a:p>
          <a:p>
            <a:pPr marL="342900" indent="-342900">
              <a:lnSpc>
                <a:spcPts val="1600"/>
              </a:lnSpc>
              <a:spcAft>
                <a:spcPts val="800"/>
              </a:spcAft>
              <a:buSzPct val="100000"/>
              <a:buChar char="•"/>
            </a:pPr>
            <a:r>
              <a:rPr lang="en-US" sz="1200" dirty="0">
                <a:solidFill>
                  <a:srgbClr val="2B3A42"/>
                </a:solidFill>
                <a:latin typeface="Calibri" pitchFamily="34" charset="0"/>
                <a:ea typeface="Calibri" pitchFamily="34" charset="-122"/>
                <a:cs typeface="Calibri" pitchFamily="34" charset="-120"/>
              </a:rPr>
              <a:t>Advanced planning and scheduling. Standard MRP first.</a:t>
            </a:r>
            <a:endParaRPr lang="en-US" sz="1200" dirty="0"/>
          </a:p>
          <a:p>
            <a:pPr marL="342900" indent="-342900">
              <a:lnSpc>
                <a:spcPts val="1600"/>
              </a:lnSpc>
              <a:spcAft>
                <a:spcPts val="800"/>
              </a:spcAft>
              <a:buSzPct val="100000"/>
              <a:buChar char="•"/>
            </a:pPr>
            <a:r>
              <a:rPr lang="en-US" sz="1200" dirty="0">
                <a:solidFill>
                  <a:srgbClr val="2B3A42"/>
                </a:solidFill>
                <a:latin typeface="Calibri" pitchFamily="34" charset="0"/>
                <a:ea typeface="Calibri" pitchFamily="34" charset="-122"/>
                <a:cs typeface="Calibri" pitchFamily="34" charset="-120"/>
              </a:rPr>
              <a:t>WMS, barcoding, portals, EDI expansion, advanced analytics, quality beyond basic NCR</a:t>
            </a:r>
            <a:endParaRPr lang="en-US" sz="1200" dirty="0"/>
          </a:p>
          <a:p>
            <a:pPr marL="342900" indent="-342900">
              <a:lnSpc>
                <a:spcPts val="1600"/>
              </a:lnSpc>
              <a:spcAft>
                <a:spcPts val="800"/>
              </a:spcAft>
              <a:buSzPct val="100000"/>
              <a:buChar char="•"/>
            </a:pPr>
            <a:r>
              <a:rPr lang="en-US" sz="1200" b="1" dirty="0">
                <a:solidFill>
                  <a:srgbClr val="2B3A42"/>
                </a:solidFill>
                <a:latin typeface="Calibri" pitchFamily="34" charset="0"/>
                <a:ea typeface="Calibri" pitchFamily="34" charset="-122"/>
                <a:cs typeface="Calibri" pitchFamily="34" charset="-120"/>
              </a:rPr>
              <a:t>CRM stays exactly where it is, untouched. A light account and order interface comes in the value phase.</a:t>
            </a:r>
            <a:endParaRPr lang="en-US" sz="1200" dirty="0"/>
          </a:p>
          <a:p>
            <a:pPr marL="342900" indent="-342900">
              <a:lnSpc>
                <a:spcPts val="1600"/>
              </a:lnSpc>
              <a:spcAft>
                <a:spcPts val="800"/>
              </a:spcAft>
              <a:buSzPct val="100000"/>
              <a:buChar char="•"/>
            </a:pPr>
            <a:r>
              <a:rPr lang="en-US" sz="1200" dirty="0">
                <a:solidFill>
                  <a:srgbClr val="2B3A42"/>
                </a:solidFill>
                <a:latin typeface="Calibri" pitchFamily="34" charset="0"/>
                <a:ea typeface="Calibri" pitchFamily="34" charset="-122"/>
                <a:cs typeface="Calibri" pitchFamily="34" charset="-120"/>
              </a:rPr>
              <a:t>HRIS and payroll stay siloed and post a summary journal</a:t>
            </a:r>
            <a:endParaRPr lang="en-US" sz="1200" dirty="0"/>
          </a:p>
        </p:txBody>
      </p:sp>
      <p:sp>
        <p:nvSpPr>
          <p:cNvPr id="12" name="Shape 10"/>
          <p:cNvSpPr/>
          <p:nvPr/>
        </p:nvSpPr>
        <p:spPr>
          <a:xfrm>
            <a:off x="6492240" y="4526280"/>
            <a:ext cx="4846320" cy="9144"/>
          </a:xfrm>
          <a:prstGeom prst="rect">
            <a:avLst/>
          </a:prstGeom>
          <a:solidFill>
            <a:srgbClr val="D6DDE0"/>
          </a:solidFill>
          <a:ln/>
        </p:spPr>
      </p:sp>
      <p:sp>
        <p:nvSpPr>
          <p:cNvPr id="13" name="Text 11"/>
          <p:cNvSpPr/>
          <p:nvPr/>
        </p:nvSpPr>
        <p:spPr>
          <a:xfrm>
            <a:off x="6492240" y="4663440"/>
            <a:ext cx="4846320" cy="274320"/>
          </a:xfrm>
          <a:prstGeom prst="rect">
            <a:avLst/>
          </a:prstGeom>
          <a:noFill/>
          <a:ln/>
        </p:spPr>
        <p:txBody>
          <a:bodyPr wrap="square" lIns="0" tIns="0" rIns="0" bIns="0" rtlCol="0" anchor="ctr"/>
          <a:lstStyle/>
          <a:p>
            <a:pPr indent="0" marL="0">
              <a:buNone/>
            </a:pPr>
            <a:r>
              <a:rPr lang="en-US" sz="1600" b="1" dirty="0">
                <a:solidFill>
                  <a:srgbClr val="C25E00"/>
                </a:solidFill>
                <a:latin typeface="Cambria" pitchFamily="34" charset="0"/>
                <a:ea typeface="Cambria" pitchFamily="34" charset="-122"/>
                <a:cs typeface="Cambria" pitchFamily="34" charset="-120"/>
              </a:rPr>
              <a:t>Customization discipline</a:t>
            </a:r>
            <a:endParaRPr lang="en-US" sz="1600" dirty="0"/>
          </a:p>
        </p:txBody>
      </p:sp>
      <p:sp>
        <p:nvSpPr>
          <p:cNvPr id="14" name="Text 12"/>
          <p:cNvSpPr/>
          <p:nvPr/>
        </p:nvSpPr>
        <p:spPr>
          <a:xfrm>
            <a:off x="6492240" y="4983480"/>
            <a:ext cx="4846320" cy="1051560"/>
          </a:xfrm>
          <a:prstGeom prst="rect">
            <a:avLst/>
          </a:prstGeom>
          <a:noFill/>
          <a:ln/>
        </p:spPr>
        <p:txBody>
          <a:bodyPr wrap="square" lIns="0" tIns="0" rIns="0" bIns="0" rtlCol="0" anchor="t"/>
          <a:lstStyle/>
          <a:p>
            <a:pPr indent="0" marL="0">
              <a:lnSpc>
                <a:spcPts val="1500"/>
              </a:lnSpc>
              <a:buNone/>
            </a:pPr>
            <a:r>
              <a:rPr lang="en-US" sz="1150" dirty="0">
                <a:solidFill>
                  <a:srgbClr val="2B3A42"/>
                </a:solidFill>
                <a:latin typeface="Calibri" pitchFamily="34" charset="0"/>
                <a:ea typeface="Calibri" pitchFamily="34" charset="-122"/>
                <a:cs typeface="Calibri" pitchFamily="34" charset="-120"/>
              </a:rPr>
              <a:t>Zero code at Day 1 is the target. An extension is approved only if it clears three questions: is the gap proven in the pilot on a real order, is it customer or regulator facing, and who owns it in five years? Where we'd otherwise customize, we change the process. That's the deal we sign when we go cloud.</a:t>
            </a:r>
            <a:endParaRPr lang="en-US" sz="1150" dirty="0"/>
          </a:p>
        </p:txBody>
      </p:sp>
      <p:sp>
        <p:nvSpPr>
          <p:cNvPr id="15" name="Text 13"/>
          <p:cNvSpPr/>
          <p:nvPr/>
        </p:nvSpPr>
        <p:spPr>
          <a:xfrm>
            <a:off x="548640" y="6419088"/>
            <a:ext cx="5486400" cy="228600"/>
          </a:xfrm>
          <a:prstGeom prst="rect">
            <a:avLst/>
          </a:prstGeom>
          <a:noFill/>
          <a:ln/>
        </p:spPr>
        <p:txBody>
          <a:bodyPr wrap="square" lIns="0" tIns="0" rIns="0" bIns="0" rtlCol="0" anchor="ctr"/>
          <a:lstStyle/>
          <a:p>
            <a:pPr indent="0" marL="0">
              <a:buNone/>
            </a:pPr>
            <a:r>
              <a:rPr lang="en-US" sz="850" dirty="0">
                <a:solidFill>
                  <a:srgbClr val="6B7A82"/>
                </a:solidFill>
                <a:latin typeface="Calibri" pitchFamily="34" charset="0"/>
                <a:ea typeface="Calibri" pitchFamily="34" charset="-122"/>
                <a:cs typeface="Calibri" pitchFamily="34" charset="-120"/>
              </a:rPr>
              <a:t>AMG ERP Transformation  |  Confidential</a:t>
            </a:r>
            <a:endParaRPr lang="en-US" sz="850" dirty="0"/>
          </a:p>
        </p:txBody>
      </p:sp>
      <p:sp>
        <p:nvSpPr>
          <p:cNvPr id="16" name="Text 14"/>
          <p:cNvSpPr/>
          <p:nvPr/>
        </p:nvSpPr>
        <p:spPr>
          <a:xfrm>
            <a:off x="11064240" y="6419088"/>
            <a:ext cx="548640" cy="228600"/>
          </a:xfrm>
          <a:prstGeom prst="rect">
            <a:avLst/>
          </a:prstGeom>
          <a:noFill/>
          <a:ln/>
        </p:spPr>
        <p:txBody>
          <a:bodyPr wrap="square" lIns="0" tIns="0" rIns="0" bIns="0" rtlCol="0" anchor="ctr"/>
          <a:lstStyle/>
          <a:p>
            <a:pPr algn="r" indent="0" marL="0">
              <a:buNone/>
            </a:pPr>
            <a:r>
              <a:rPr lang="en-US" sz="850" dirty="0">
                <a:solidFill>
                  <a:srgbClr val="6B7A82"/>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10896" cy="310896"/>
          </a:xfrm>
          <a:prstGeom prst="rect">
            <a:avLst/>
          </a:prstGeom>
          <a:solidFill>
            <a:srgbClr val="C25E00"/>
          </a:solidFill>
          <a:ln/>
        </p:spPr>
      </p:sp>
      <p:sp>
        <p:nvSpPr>
          <p:cNvPr id="3" name="Text 1"/>
          <p:cNvSpPr/>
          <p:nvPr/>
        </p:nvSpPr>
        <p:spPr>
          <a:xfrm>
            <a:off x="548640" y="3840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 name="Text 2"/>
          <p:cNvSpPr/>
          <p:nvPr/>
        </p:nvSpPr>
        <p:spPr>
          <a:xfrm>
            <a:off x="987552" y="347472"/>
            <a:ext cx="10607040" cy="402336"/>
          </a:xfrm>
          <a:prstGeom prst="rect">
            <a:avLst/>
          </a:prstGeom>
          <a:noFill/>
          <a:ln/>
        </p:spPr>
        <p:txBody>
          <a:bodyPr wrap="square" lIns="0" tIns="0" rIns="0" bIns="0" rtlCol="0" anchor="ctr"/>
          <a:lstStyle/>
          <a:p>
            <a:pPr algn="l" indent="0" marL="0">
              <a:buNone/>
            </a:pPr>
            <a:r>
              <a:rPr lang="en-US" sz="2700" b="1" dirty="0">
                <a:solidFill>
                  <a:srgbClr val="2B3A42"/>
                </a:solidFill>
                <a:latin typeface="Cambria" pitchFamily="34" charset="0"/>
                <a:ea typeface="Cambria" pitchFamily="34" charset="-122"/>
                <a:cs typeface="Cambria" pitchFamily="34" charset="-120"/>
              </a:rPr>
              <a:t>Migration: what moves, and what doesn't</a:t>
            </a:r>
            <a:endParaRPr lang="en-US" sz="2700" dirty="0"/>
          </a:p>
        </p:txBody>
      </p:sp>
      <p:sp>
        <p:nvSpPr>
          <p:cNvPr id="5" name="Shape 3"/>
          <p:cNvSpPr/>
          <p:nvPr/>
        </p:nvSpPr>
        <p:spPr>
          <a:xfrm>
            <a:off x="548640" y="1417320"/>
            <a:ext cx="5394960" cy="3017520"/>
          </a:xfrm>
          <a:prstGeom prst="roundRect">
            <a:avLst>
              <a:gd name="adj" fmla="val 1818"/>
            </a:avLst>
          </a:prstGeom>
          <a:solidFill>
            <a:srgbClr val="F2F4F5"/>
          </a:solidFill>
          <a:ln w="9525">
            <a:solidFill>
              <a:srgbClr val="D6DDE0"/>
            </a:solidFill>
            <a:prstDash val="solid"/>
          </a:ln>
        </p:spPr>
      </p:sp>
      <p:sp>
        <p:nvSpPr>
          <p:cNvPr id="6" name="Text 4"/>
          <p:cNvSpPr/>
          <p:nvPr/>
        </p:nvSpPr>
        <p:spPr>
          <a:xfrm>
            <a:off x="822960" y="1600200"/>
            <a:ext cx="4846320" cy="256032"/>
          </a:xfrm>
          <a:prstGeom prst="rect">
            <a:avLst/>
          </a:prstGeom>
          <a:noFill/>
          <a:ln/>
        </p:spPr>
        <p:txBody>
          <a:bodyPr wrap="square" lIns="0" tIns="0" rIns="0" bIns="0" rtlCol="0" anchor="ctr"/>
          <a:lstStyle/>
          <a:p>
            <a:pPr indent="0" marL="0">
              <a:buNone/>
            </a:pPr>
            <a:r>
              <a:rPr lang="en-US" sz="1100" b="1" spc="120" kern="0" dirty="0">
                <a:solidFill>
                  <a:srgbClr val="C25E00"/>
                </a:solidFill>
                <a:latin typeface="Calibri" pitchFamily="34" charset="0"/>
                <a:ea typeface="Calibri" pitchFamily="34" charset="-122"/>
                <a:cs typeface="Calibri" pitchFamily="34" charset="-120"/>
              </a:rPr>
              <a:t>MOVES INTO THE NEW ERP</a:t>
            </a:r>
            <a:endParaRPr lang="en-US" sz="1100" dirty="0"/>
          </a:p>
        </p:txBody>
      </p:sp>
      <p:sp>
        <p:nvSpPr>
          <p:cNvPr id="7" name="Text 5"/>
          <p:cNvSpPr/>
          <p:nvPr/>
        </p:nvSpPr>
        <p:spPr>
          <a:xfrm>
            <a:off x="822960" y="1965960"/>
            <a:ext cx="4846320" cy="228600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250" dirty="0">
                <a:solidFill>
                  <a:srgbClr val="2B3A42"/>
                </a:solidFill>
                <a:latin typeface="Calibri" pitchFamily="34" charset="0"/>
                <a:ea typeface="Calibri" pitchFamily="34" charset="-122"/>
                <a:cs typeface="Calibri" pitchFamily="34" charset="-120"/>
              </a:rPr>
              <a:t>Active items; active BOMs and routings with activity in the last 36 months</a:t>
            </a:r>
            <a:endParaRPr lang="en-US" sz="1250" dirty="0"/>
          </a:p>
          <a:p>
            <a:pPr marL="342900" indent="-342900">
              <a:lnSpc>
                <a:spcPts val="1600"/>
              </a:lnSpc>
              <a:spcAft>
                <a:spcPts val="900"/>
              </a:spcAft>
              <a:buSzPct val="100000"/>
              <a:buChar char="•"/>
            </a:pPr>
            <a:r>
              <a:rPr lang="en-US" sz="1250" dirty="0">
                <a:solidFill>
                  <a:srgbClr val="2B3A42"/>
                </a:solidFill>
                <a:latin typeface="Calibri" pitchFamily="34" charset="0"/>
                <a:ea typeface="Calibri" pitchFamily="34" charset="-122"/>
                <a:cs typeface="Calibri" pitchFamily="34" charset="-120"/>
              </a:rPr>
              <a:t>Active customers and vendors</a:t>
            </a:r>
            <a:endParaRPr lang="en-US" sz="1250" dirty="0"/>
          </a:p>
          <a:p>
            <a:pPr marL="342900" indent="-342900">
              <a:lnSpc>
                <a:spcPts val="1600"/>
              </a:lnSpc>
              <a:spcAft>
                <a:spcPts val="900"/>
              </a:spcAft>
              <a:buSzPct val="100000"/>
              <a:buChar char="•"/>
            </a:pPr>
            <a:r>
              <a:rPr lang="en-US" sz="1250" dirty="0">
                <a:solidFill>
                  <a:srgbClr val="2B3A42"/>
                </a:solidFill>
                <a:latin typeface="Calibri" pitchFamily="34" charset="0"/>
                <a:ea typeface="Calibri" pitchFamily="34" charset="-122"/>
                <a:cs typeface="Calibri" pitchFamily="34" charset="-120"/>
              </a:rPr>
              <a:t>On-hand inventory at cost</a:t>
            </a:r>
            <a:endParaRPr lang="en-US" sz="1250" dirty="0"/>
          </a:p>
          <a:p>
            <a:pPr marL="342900" indent="-342900">
              <a:lnSpc>
                <a:spcPts val="1600"/>
              </a:lnSpc>
              <a:spcAft>
                <a:spcPts val="900"/>
              </a:spcAft>
              <a:buSzPct val="100000"/>
              <a:buChar char="•"/>
            </a:pPr>
            <a:r>
              <a:rPr lang="en-US" sz="1250" dirty="0">
                <a:solidFill>
                  <a:srgbClr val="2B3A42"/>
                </a:solidFill>
                <a:latin typeface="Calibri" pitchFamily="34" charset="0"/>
                <a:ea typeface="Calibri" pitchFamily="34" charset="-122"/>
                <a:cs typeface="Calibri" pitchFamily="34" charset="-120"/>
              </a:rPr>
              <a:t>Open POs, sales orders, jobs and WIP, AR, AP, ECNs</a:t>
            </a:r>
            <a:endParaRPr lang="en-US" sz="1250" dirty="0"/>
          </a:p>
          <a:p>
            <a:pPr marL="342900" indent="-342900">
              <a:lnSpc>
                <a:spcPts val="1600"/>
              </a:lnSpc>
              <a:spcAft>
                <a:spcPts val="900"/>
              </a:spcAft>
              <a:buSzPct val="100000"/>
              <a:buChar char="•"/>
            </a:pPr>
            <a:r>
              <a:rPr lang="en-US" sz="1250" dirty="0">
                <a:solidFill>
                  <a:srgbClr val="2B3A42"/>
                </a:solidFill>
                <a:latin typeface="Calibri" pitchFamily="34" charset="0"/>
                <a:ea typeface="Calibri" pitchFamily="34" charset="-122"/>
                <a:cs typeface="Calibri" pitchFamily="34" charset="-120"/>
              </a:rPr>
              <a:t>Opening trial balance, plus two prior fiscal years of GL at period-summary level for comparatives</a:t>
            </a:r>
            <a:endParaRPr lang="en-US" sz="1250" dirty="0"/>
          </a:p>
        </p:txBody>
      </p:sp>
      <p:sp>
        <p:nvSpPr>
          <p:cNvPr id="8" name="Shape 6"/>
          <p:cNvSpPr/>
          <p:nvPr/>
        </p:nvSpPr>
        <p:spPr>
          <a:xfrm>
            <a:off x="6217920" y="1417320"/>
            <a:ext cx="5394960" cy="3017520"/>
          </a:xfrm>
          <a:prstGeom prst="roundRect">
            <a:avLst>
              <a:gd name="adj" fmla="val 1818"/>
            </a:avLst>
          </a:prstGeom>
          <a:solidFill>
            <a:srgbClr val="FFFFFF"/>
          </a:solidFill>
          <a:ln w="9525">
            <a:solidFill>
              <a:srgbClr val="D6DDE0"/>
            </a:solidFill>
            <a:prstDash val="solid"/>
          </a:ln>
        </p:spPr>
      </p:sp>
      <p:sp>
        <p:nvSpPr>
          <p:cNvPr id="9" name="Text 7"/>
          <p:cNvSpPr/>
          <p:nvPr/>
        </p:nvSpPr>
        <p:spPr>
          <a:xfrm>
            <a:off x="6492240" y="1600200"/>
            <a:ext cx="4846320" cy="256032"/>
          </a:xfrm>
          <a:prstGeom prst="rect">
            <a:avLst/>
          </a:prstGeom>
          <a:noFill/>
          <a:ln/>
        </p:spPr>
        <p:txBody>
          <a:bodyPr wrap="square" lIns="0" tIns="0" rIns="0" bIns="0" rtlCol="0" anchor="ctr"/>
          <a:lstStyle/>
          <a:p>
            <a:pPr indent="0" marL="0">
              <a:buNone/>
            </a:pPr>
            <a:r>
              <a:rPr lang="en-US" sz="1100" b="1" spc="120" kern="0" dirty="0">
                <a:solidFill>
                  <a:srgbClr val="6B7A82"/>
                </a:solidFill>
                <a:latin typeface="Calibri" pitchFamily="34" charset="0"/>
                <a:ea typeface="Calibri" pitchFamily="34" charset="-122"/>
                <a:cs typeface="Calibri" pitchFamily="34" charset="-120"/>
              </a:rPr>
              <a:t>STAYS OUT, BY DESIGN</a:t>
            </a:r>
            <a:endParaRPr lang="en-US" sz="1100" dirty="0"/>
          </a:p>
        </p:txBody>
      </p:sp>
      <p:sp>
        <p:nvSpPr>
          <p:cNvPr id="10" name="Text 8"/>
          <p:cNvSpPr/>
          <p:nvPr/>
        </p:nvSpPr>
        <p:spPr>
          <a:xfrm>
            <a:off x="6492240" y="1965960"/>
            <a:ext cx="4846320" cy="228600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250" dirty="0">
                <a:solidFill>
                  <a:srgbClr val="2B3A42"/>
                </a:solidFill>
                <a:latin typeface="Calibri" pitchFamily="34" charset="0"/>
                <a:ea typeface="Calibri" pitchFamily="34" charset="-122"/>
                <a:cs typeface="Calibri" pitchFamily="34" charset="-120"/>
              </a:rPr>
              <a:t>Closed jobs</a:t>
            </a:r>
            <a:endParaRPr lang="en-US" sz="1250" dirty="0"/>
          </a:p>
          <a:p>
            <a:pPr marL="342900" indent="-342900">
              <a:lnSpc>
                <a:spcPts val="1600"/>
              </a:lnSpc>
              <a:spcAft>
                <a:spcPts val="900"/>
              </a:spcAft>
              <a:buSzPct val="100000"/>
              <a:buChar char="•"/>
            </a:pPr>
            <a:r>
              <a:rPr lang="en-US" sz="1250" dirty="0">
                <a:solidFill>
                  <a:srgbClr val="2B3A42"/>
                </a:solidFill>
                <a:latin typeface="Calibri" pitchFamily="34" charset="0"/>
                <a:ea typeface="Calibri" pitchFamily="34" charset="-122"/>
                <a:cs typeface="Calibri" pitchFamily="34" charset="-120"/>
              </a:rPr>
              <a:t>Historical GL detail and paid invoices</a:t>
            </a:r>
            <a:endParaRPr lang="en-US" sz="1250" dirty="0"/>
          </a:p>
          <a:p>
            <a:pPr marL="342900" indent="-342900">
              <a:lnSpc>
                <a:spcPts val="1600"/>
              </a:lnSpc>
              <a:spcAft>
                <a:spcPts val="900"/>
              </a:spcAft>
              <a:buSzPct val="100000"/>
              <a:buChar char="•"/>
            </a:pPr>
            <a:r>
              <a:rPr lang="en-US" sz="1250" dirty="0">
                <a:solidFill>
                  <a:srgbClr val="2B3A42"/>
                </a:solidFill>
                <a:latin typeface="Calibri" pitchFamily="34" charset="0"/>
                <a:ea typeface="Calibri" pitchFamily="34" charset="-122"/>
                <a:cs typeface="Calibri" pitchFamily="34" charset="-120"/>
              </a:rPr>
              <a:t>Superseded BOM revisions and historical ECN detail</a:t>
            </a:r>
            <a:endParaRPr lang="en-US" sz="1250" dirty="0"/>
          </a:p>
          <a:p>
            <a:pPr marL="342900" indent="-342900">
              <a:lnSpc>
                <a:spcPts val="1600"/>
              </a:lnSpc>
              <a:spcAft>
                <a:spcPts val="900"/>
              </a:spcAft>
              <a:buSzPct val="100000"/>
              <a:buChar char="•"/>
            </a:pPr>
            <a:r>
              <a:rPr lang="en-US" sz="1250" dirty="0">
                <a:solidFill>
                  <a:srgbClr val="2B3A42"/>
                </a:solidFill>
                <a:latin typeface="Calibri" pitchFamily="34" charset="0"/>
                <a:ea typeface="Calibri" pitchFamily="34" charset="-122"/>
                <a:cs typeface="Calibri" pitchFamily="34" charset="-120"/>
              </a:rPr>
              <a:t>Items dormant for three years or more</a:t>
            </a:r>
            <a:endParaRPr lang="en-US" sz="1250" dirty="0"/>
          </a:p>
          <a:p>
            <a:pPr marL="342900" indent="-342900">
              <a:lnSpc>
                <a:spcPts val="1600"/>
              </a:lnSpc>
              <a:spcAft>
                <a:spcPts val="900"/>
              </a:spcAft>
              <a:buSzPct val="100000"/>
              <a:buChar char="•"/>
            </a:pPr>
            <a:r>
              <a:rPr lang="en-US" sz="1250" dirty="0">
                <a:solidFill>
                  <a:srgbClr val="2B3A42"/>
                </a:solidFill>
                <a:latin typeface="Calibri" pitchFamily="34" charset="0"/>
                <a:ea typeface="Calibri" pitchFamily="34" charset="-122"/>
                <a:cs typeface="Calibri" pitchFamily="34" charset="-120"/>
              </a:rPr>
              <a:t>Anything whose only purpose is 'we might want to look at it'</a:t>
            </a:r>
            <a:endParaRPr lang="en-US" sz="1250" dirty="0"/>
          </a:p>
        </p:txBody>
      </p:sp>
      <p:sp>
        <p:nvSpPr>
          <p:cNvPr id="11" name="Shape 9"/>
          <p:cNvSpPr/>
          <p:nvPr/>
        </p:nvSpPr>
        <p:spPr>
          <a:xfrm>
            <a:off x="548640" y="4663440"/>
            <a:ext cx="11064240" cy="777240"/>
          </a:xfrm>
          <a:prstGeom prst="roundRect">
            <a:avLst>
              <a:gd name="adj" fmla="val 7059"/>
            </a:avLst>
          </a:prstGeom>
          <a:solidFill>
            <a:srgbClr val="2B3A42"/>
          </a:solidFill>
          <a:ln/>
        </p:spPr>
      </p:sp>
      <p:sp>
        <p:nvSpPr>
          <p:cNvPr id="12" name="Text 10"/>
          <p:cNvSpPr/>
          <p:nvPr/>
        </p:nvSpPr>
        <p:spPr>
          <a:xfrm>
            <a:off x="822960" y="4663440"/>
            <a:ext cx="10515600" cy="7772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rule: history is a reporting problem, not a migration problem. We solve it with an archive, not with a load.</a:t>
            </a:r>
            <a:endParaRPr lang="en-US" sz="1700" dirty="0"/>
          </a:p>
        </p:txBody>
      </p:sp>
      <p:sp>
        <p:nvSpPr>
          <p:cNvPr id="13" name="Text 11"/>
          <p:cNvSpPr/>
          <p:nvPr/>
        </p:nvSpPr>
        <p:spPr>
          <a:xfrm>
            <a:off x="548640" y="5577840"/>
            <a:ext cx="11064240" cy="640080"/>
          </a:xfrm>
          <a:prstGeom prst="rect">
            <a:avLst/>
          </a:prstGeom>
          <a:noFill/>
          <a:ln/>
        </p:spPr>
        <p:txBody>
          <a:bodyPr wrap="square" lIns="0" tIns="0" rIns="0" bIns="0" rtlCol="0" anchor="t"/>
          <a:lstStyle/>
          <a:p>
            <a:pPr indent="0" marL="0">
              <a:lnSpc>
                <a:spcPts val="1600"/>
              </a:lnSpc>
              <a:buNone/>
            </a:pPr>
            <a:r>
              <a:rPr lang="en-US" sz="1250" dirty="0">
                <a:solidFill>
                  <a:srgbClr val="6B7A82"/>
                </a:solidFill>
                <a:latin typeface="Calibri" pitchFamily="34" charset="0"/>
                <a:ea typeface="Calibri" pitchFamily="34" charset="-122"/>
                <a:cs typeface="Calibri" pitchFamily="34" charset="-120"/>
              </a:rPr>
              <a:t>Legacy is extracted to a read-only cloud archive during design, kept live read-only for six months after the final wave as insurance, then decommissioned. Seven-year statutory retention is met by the archive. Nobody should be keeping a twenty-year-old ERP alive to satisfy an auditor.</a:t>
            </a:r>
            <a:endParaRPr lang="en-US" sz="1250" dirty="0"/>
          </a:p>
        </p:txBody>
      </p:sp>
      <p:sp>
        <p:nvSpPr>
          <p:cNvPr id="14" name="Text 12"/>
          <p:cNvSpPr/>
          <p:nvPr/>
        </p:nvSpPr>
        <p:spPr>
          <a:xfrm>
            <a:off x="548640" y="6419088"/>
            <a:ext cx="5486400" cy="228600"/>
          </a:xfrm>
          <a:prstGeom prst="rect">
            <a:avLst/>
          </a:prstGeom>
          <a:noFill/>
          <a:ln/>
        </p:spPr>
        <p:txBody>
          <a:bodyPr wrap="square" lIns="0" tIns="0" rIns="0" bIns="0" rtlCol="0" anchor="ctr"/>
          <a:lstStyle/>
          <a:p>
            <a:pPr indent="0" marL="0">
              <a:buNone/>
            </a:pPr>
            <a:r>
              <a:rPr lang="en-US" sz="850" dirty="0">
                <a:solidFill>
                  <a:srgbClr val="6B7A82"/>
                </a:solidFill>
                <a:latin typeface="Calibri" pitchFamily="34" charset="0"/>
                <a:ea typeface="Calibri" pitchFamily="34" charset="-122"/>
                <a:cs typeface="Calibri" pitchFamily="34" charset="-120"/>
              </a:rPr>
              <a:t>AMG ERP Transformation  |  Confidential</a:t>
            </a:r>
            <a:endParaRPr lang="en-US" sz="850" dirty="0"/>
          </a:p>
        </p:txBody>
      </p:sp>
      <p:sp>
        <p:nvSpPr>
          <p:cNvPr id="15" name="Text 13"/>
          <p:cNvSpPr/>
          <p:nvPr/>
        </p:nvSpPr>
        <p:spPr>
          <a:xfrm>
            <a:off x="11064240" y="6419088"/>
            <a:ext cx="548640" cy="228600"/>
          </a:xfrm>
          <a:prstGeom prst="rect">
            <a:avLst/>
          </a:prstGeom>
          <a:noFill/>
          <a:ln/>
        </p:spPr>
        <p:txBody>
          <a:bodyPr wrap="square" lIns="0" tIns="0" rIns="0" bIns="0" rtlCol="0" anchor="ctr"/>
          <a:lstStyle/>
          <a:p>
            <a:pPr algn="r" indent="0" marL="0">
              <a:buNone/>
            </a:pPr>
            <a:r>
              <a:rPr lang="en-US" sz="850" dirty="0">
                <a:solidFill>
                  <a:srgbClr val="6B7A82"/>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10896" cy="310896"/>
          </a:xfrm>
          <a:prstGeom prst="rect">
            <a:avLst/>
          </a:prstGeom>
          <a:solidFill>
            <a:srgbClr val="C25E00"/>
          </a:solidFill>
          <a:ln/>
        </p:spPr>
      </p:sp>
      <p:sp>
        <p:nvSpPr>
          <p:cNvPr id="3" name="Text 1"/>
          <p:cNvSpPr/>
          <p:nvPr/>
        </p:nvSpPr>
        <p:spPr>
          <a:xfrm>
            <a:off x="548640" y="3840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 name="Text 2"/>
          <p:cNvSpPr/>
          <p:nvPr/>
        </p:nvSpPr>
        <p:spPr>
          <a:xfrm>
            <a:off x="987552" y="347472"/>
            <a:ext cx="10607040" cy="402336"/>
          </a:xfrm>
          <a:prstGeom prst="rect">
            <a:avLst/>
          </a:prstGeom>
          <a:noFill/>
          <a:ln/>
        </p:spPr>
        <p:txBody>
          <a:bodyPr wrap="square" lIns="0" tIns="0" rIns="0" bIns="0" rtlCol="0" anchor="ctr"/>
          <a:lstStyle/>
          <a:p>
            <a:pPr algn="l" indent="0" marL="0">
              <a:buNone/>
            </a:pPr>
            <a:r>
              <a:rPr lang="en-US" sz="2700" b="1" dirty="0">
                <a:solidFill>
                  <a:srgbClr val="2B3A42"/>
                </a:solidFill>
                <a:latin typeface="Cambria" pitchFamily="34" charset="0"/>
                <a:ea typeface="Cambria" pitchFamily="34" charset="-122"/>
                <a:cs typeface="Cambria" pitchFamily="34" charset="-120"/>
              </a:rPr>
              <a:t>Reporting is built outside the ERP</a:t>
            </a:r>
            <a:endParaRPr lang="en-US" sz="2700" dirty="0"/>
          </a:p>
        </p:txBody>
      </p:sp>
      <p:sp>
        <p:nvSpPr>
          <p:cNvPr id="5" name="Text 3"/>
          <p:cNvSpPr/>
          <p:nvPr/>
        </p:nvSpPr>
        <p:spPr>
          <a:xfrm>
            <a:off x="987552" y="786384"/>
            <a:ext cx="10607040" cy="274320"/>
          </a:xfrm>
          <a:prstGeom prst="rect">
            <a:avLst/>
          </a:prstGeom>
          <a:noFill/>
          <a:ln/>
        </p:spPr>
        <p:txBody>
          <a:bodyPr wrap="square" lIns="0" tIns="0" rIns="0" bIns="0" rtlCol="0" anchor="t"/>
          <a:lstStyle/>
          <a:p>
            <a:pPr indent="0" marL="0">
              <a:buNone/>
            </a:pPr>
            <a:r>
              <a:rPr lang="en-US" sz="1250" i="1" dirty="0">
                <a:solidFill>
                  <a:srgbClr val="6B7A82"/>
                </a:solidFill>
                <a:latin typeface="Calibri" pitchFamily="34" charset="0"/>
                <a:ea typeface="Calibri" pitchFamily="34" charset="-122"/>
                <a:cs typeface="Calibri" pitchFamily="34" charset="-120"/>
              </a:rPr>
              <a:t>That's what actually delivers uninterrupted access.</a:t>
            </a:r>
            <a:endParaRPr lang="en-US" sz="1250" dirty="0"/>
          </a:p>
        </p:txBody>
      </p:sp>
      <p:sp>
        <p:nvSpPr>
          <p:cNvPr id="6" name="Shape 4"/>
          <p:cNvSpPr/>
          <p:nvPr/>
        </p:nvSpPr>
        <p:spPr>
          <a:xfrm>
            <a:off x="548640" y="1508760"/>
            <a:ext cx="2743200" cy="914400"/>
          </a:xfrm>
          <a:prstGeom prst="roundRect">
            <a:avLst>
              <a:gd name="adj" fmla="val 5000"/>
            </a:avLst>
          </a:prstGeom>
          <a:solidFill>
            <a:srgbClr val="F2F4F5"/>
          </a:solidFill>
          <a:ln w="12700">
            <a:solidFill>
              <a:srgbClr val="D6DDE0"/>
            </a:solidFill>
            <a:prstDash val="solid"/>
          </a:ln>
        </p:spPr>
      </p:sp>
      <p:sp>
        <p:nvSpPr>
          <p:cNvPr id="7" name="Text 5"/>
          <p:cNvSpPr/>
          <p:nvPr/>
        </p:nvSpPr>
        <p:spPr>
          <a:xfrm>
            <a:off x="731520" y="1627632"/>
            <a:ext cx="2377440" cy="274320"/>
          </a:xfrm>
          <a:prstGeom prst="rect">
            <a:avLst/>
          </a:prstGeom>
          <a:noFill/>
          <a:ln/>
        </p:spPr>
        <p:txBody>
          <a:bodyPr wrap="square" lIns="0" tIns="0" rIns="0" bIns="0" rtlCol="0" anchor="ctr"/>
          <a:lstStyle/>
          <a:p>
            <a:pPr indent="0" marL="0">
              <a:buNone/>
            </a:pPr>
            <a:r>
              <a:rPr lang="en-US" sz="1400" b="1" dirty="0">
                <a:solidFill>
                  <a:srgbClr val="2B3A42"/>
                </a:solidFill>
                <a:latin typeface="Calibri" pitchFamily="34" charset="0"/>
                <a:ea typeface="Calibri" pitchFamily="34" charset="-122"/>
                <a:cs typeface="Calibri" pitchFamily="34" charset="-120"/>
              </a:rPr>
              <a:t>Legacy ERP</a:t>
            </a:r>
            <a:endParaRPr lang="en-US" sz="1400" dirty="0"/>
          </a:p>
        </p:txBody>
      </p:sp>
      <p:sp>
        <p:nvSpPr>
          <p:cNvPr id="8" name="Text 6"/>
          <p:cNvSpPr/>
          <p:nvPr/>
        </p:nvSpPr>
        <p:spPr>
          <a:xfrm>
            <a:off x="731520" y="1920240"/>
            <a:ext cx="2377440" cy="274320"/>
          </a:xfrm>
          <a:prstGeom prst="rect">
            <a:avLst/>
          </a:prstGeom>
          <a:noFill/>
          <a:ln/>
        </p:spPr>
        <p:txBody>
          <a:bodyPr wrap="square" lIns="0" tIns="0" rIns="0" bIns="0" rtlCol="0" anchor="ctr"/>
          <a:lstStyle/>
          <a:p>
            <a:pPr indent="0" marL="0">
              <a:buNone/>
            </a:pPr>
            <a:r>
              <a:rPr lang="en-US" sz="1150" dirty="0">
                <a:solidFill>
                  <a:srgbClr val="6B7A82"/>
                </a:solidFill>
                <a:latin typeface="Calibri" pitchFamily="34" charset="0"/>
                <a:ea typeface="Calibri" pitchFamily="34" charset="-122"/>
                <a:cs typeface="Calibri" pitchFamily="34" charset="-120"/>
              </a:rPr>
              <a:t>Sites not yet cut over</a:t>
            </a:r>
            <a:endParaRPr lang="en-US" sz="1150" dirty="0"/>
          </a:p>
        </p:txBody>
      </p:sp>
      <p:sp>
        <p:nvSpPr>
          <p:cNvPr id="9" name="Shape 7"/>
          <p:cNvSpPr/>
          <p:nvPr/>
        </p:nvSpPr>
        <p:spPr>
          <a:xfrm>
            <a:off x="548640" y="2743200"/>
            <a:ext cx="2743200" cy="914400"/>
          </a:xfrm>
          <a:prstGeom prst="roundRect">
            <a:avLst>
              <a:gd name="adj" fmla="val 5000"/>
            </a:avLst>
          </a:prstGeom>
          <a:solidFill>
            <a:srgbClr val="F2F4F5"/>
          </a:solidFill>
          <a:ln w="12700">
            <a:solidFill>
              <a:srgbClr val="D6DDE0"/>
            </a:solidFill>
            <a:prstDash val="solid"/>
          </a:ln>
        </p:spPr>
      </p:sp>
      <p:sp>
        <p:nvSpPr>
          <p:cNvPr id="10" name="Text 8"/>
          <p:cNvSpPr/>
          <p:nvPr/>
        </p:nvSpPr>
        <p:spPr>
          <a:xfrm>
            <a:off x="731520" y="2862072"/>
            <a:ext cx="2377440" cy="274320"/>
          </a:xfrm>
          <a:prstGeom prst="rect">
            <a:avLst/>
          </a:prstGeom>
          <a:noFill/>
          <a:ln/>
        </p:spPr>
        <p:txBody>
          <a:bodyPr wrap="square" lIns="0" tIns="0" rIns="0" bIns="0" rtlCol="0" anchor="ctr"/>
          <a:lstStyle/>
          <a:p>
            <a:pPr indent="0" marL="0">
              <a:buNone/>
            </a:pPr>
            <a:r>
              <a:rPr lang="en-US" sz="1400" b="1" dirty="0">
                <a:solidFill>
                  <a:srgbClr val="2B3A42"/>
                </a:solidFill>
                <a:latin typeface="Calibri" pitchFamily="34" charset="0"/>
                <a:ea typeface="Calibri" pitchFamily="34" charset="-122"/>
                <a:cs typeface="Calibri" pitchFamily="34" charset="-120"/>
              </a:rPr>
              <a:t>New cloud ERP</a:t>
            </a:r>
            <a:endParaRPr lang="en-US" sz="1400" dirty="0"/>
          </a:p>
        </p:txBody>
      </p:sp>
      <p:sp>
        <p:nvSpPr>
          <p:cNvPr id="11" name="Text 9"/>
          <p:cNvSpPr/>
          <p:nvPr/>
        </p:nvSpPr>
        <p:spPr>
          <a:xfrm>
            <a:off x="731520" y="3154680"/>
            <a:ext cx="2377440" cy="274320"/>
          </a:xfrm>
          <a:prstGeom prst="rect">
            <a:avLst/>
          </a:prstGeom>
          <a:noFill/>
          <a:ln/>
        </p:spPr>
        <p:txBody>
          <a:bodyPr wrap="square" lIns="0" tIns="0" rIns="0" bIns="0" rtlCol="0" anchor="ctr"/>
          <a:lstStyle/>
          <a:p>
            <a:pPr indent="0" marL="0">
              <a:buNone/>
            </a:pPr>
            <a:r>
              <a:rPr lang="en-US" sz="1150" dirty="0">
                <a:solidFill>
                  <a:srgbClr val="6B7A82"/>
                </a:solidFill>
                <a:latin typeface="Calibri" pitchFamily="34" charset="0"/>
                <a:ea typeface="Calibri" pitchFamily="34" charset="-122"/>
                <a:cs typeface="Calibri" pitchFamily="34" charset="-120"/>
              </a:rPr>
              <a:t>All entity finance + live waves</a:t>
            </a:r>
            <a:endParaRPr lang="en-US" sz="1150" dirty="0"/>
          </a:p>
        </p:txBody>
      </p:sp>
      <p:sp>
        <p:nvSpPr>
          <p:cNvPr id="12" name="Shape 10"/>
          <p:cNvSpPr/>
          <p:nvPr/>
        </p:nvSpPr>
        <p:spPr>
          <a:xfrm>
            <a:off x="548640" y="3977640"/>
            <a:ext cx="2743200" cy="914400"/>
          </a:xfrm>
          <a:prstGeom prst="roundRect">
            <a:avLst>
              <a:gd name="adj" fmla="val 5000"/>
            </a:avLst>
          </a:prstGeom>
          <a:solidFill>
            <a:srgbClr val="F2F4F5"/>
          </a:solidFill>
          <a:ln w="12700">
            <a:solidFill>
              <a:srgbClr val="D6DDE0"/>
            </a:solidFill>
            <a:prstDash val="solid"/>
          </a:ln>
        </p:spPr>
      </p:sp>
      <p:sp>
        <p:nvSpPr>
          <p:cNvPr id="13" name="Text 11"/>
          <p:cNvSpPr/>
          <p:nvPr/>
        </p:nvSpPr>
        <p:spPr>
          <a:xfrm>
            <a:off x="731520" y="4096512"/>
            <a:ext cx="2377440" cy="274320"/>
          </a:xfrm>
          <a:prstGeom prst="rect">
            <a:avLst/>
          </a:prstGeom>
          <a:noFill/>
          <a:ln/>
        </p:spPr>
        <p:txBody>
          <a:bodyPr wrap="square" lIns="0" tIns="0" rIns="0" bIns="0" rtlCol="0" anchor="ctr"/>
          <a:lstStyle/>
          <a:p>
            <a:pPr indent="0" marL="0">
              <a:buNone/>
            </a:pPr>
            <a:r>
              <a:rPr lang="en-US" sz="1400" b="1" dirty="0">
                <a:solidFill>
                  <a:srgbClr val="2B3A42"/>
                </a:solidFill>
                <a:latin typeface="Calibri" pitchFamily="34" charset="0"/>
                <a:ea typeface="Calibri" pitchFamily="34" charset="-122"/>
                <a:cs typeface="Calibri" pitchFamily="34" charset="-120"/>
              </a:rPr>
              <a:t>Read-only archive</a:t>
            </a:r>
            <a:endParaRPr lang="en-US" sz="1400" dirty="0"/>
          </a:p>
        </p:txBody>
      </p:sp>
      <p:sp>
        <p:nvSpPr>
          <p:cNvPr id="14" name="Text 12"/>
          <p:cNvSpPr/>
          <p:nvPr/>
        </p:nvSpPr>
        <p:spPr>
          <a:xfrm>
            <a:off x="731520" y="4389120"/>
            <a:ext cx="2377440" cy="274320"/>
          </a:xfrm>
          <a:prstGeom prst="rect">
            <a:avLst/>
          </a:prstGeom>
          <a:noFill/>
          <a:ln/>
        </p:spPr>
        <p:txBody>
          <a:bodyPr wrap="square" lIns="0" tIns="0" rIns="0" bIns="0" rtlCol="0" anchor="ctr"/>
          <a:lstStyle/>
          <a:p>
            <a:pPr indent="0" marL="0">
              <a:buNone/>
            </a:pPr>
            <a:r>
              <a:rPr lang="en-US" sz="1150" dirty="0">
                <a:solidFill>
                  <a:srgbClr val="6B7A82"/>
                </a:solidFill>
                <a:latin typeface="Calibri" pitchFamily="34" charset="0"/>
                <a:ea typeface="Calibri" pitchFamily="34" charset="-122"/>
                <a:cs typeface="Calibri" pitchFamily="34" charset="-120"/>
              </a:rPr>
              <a:t>20 years of legacy history</a:t>
            </a:r>
            <a:endParaRPr lang="en-US" sz="1150" dirty="0"/>
          </a:p>
        </p:txBody>
      </p:sp>
      <p:sp>
        <p:nvSpPr>
          <p:cNvPr id="15" name="Shape 13"/>
          <p:cNvSpPr/>
          <p:nvPr/>
        </p:nvSpPr>
        <p:spPr>
          <a:xfrm>
            <a:off x="3291840" y="1965960"/>
            <a:ext cx="292608" cy="0"/>
          </a:xfrm>
          <a:prstGeom prst="line">
            <a:avLst/>
          </a:prstGeom>
          <a:noFill/>
          <a:ln w="19050">
            <a:solidFill>
              <a:srgbClr val="C25E00"/>
            </a:solidFill>
            <a:prstDash val="solid"/>
          </a:ln>
        </p:spPr>
      </p:sp>
      <p:sp>
        <p:nvSpPr>
          <p:cNvPr id="16" name="Shape 14"/>
          <p:cNvSpPr/>
          <p:nvPr/>
        </p:nvSpPr>
        <p:spPr>
          <a:xfrm>
            <a:off x="3291840" y="3200400"/>
            <a:ext cx="292608" cy="0"/>
          </a:xfrm>
          <a:prstGeom prst="line">
            <a:avLst/>
          </a:prstGeom>
          <a:noFill/>
          <a:ln w="19050">
            <a:solidFill>
              <a:srgbClr val="C25E00"/>
            </a:solidFill>
            <a:prstDash val="solid"/>
          </a:ln>
        </p:spPr>
      </p:sp>
      <p:sp>
        <p:nvSpPr>
          <p:cNvPr id="17" name="Shape 15"/>
          <p:cNvSpPr/>
          <p:nvPr/>
        </p:nvSpPr>
        <p:spPr>
          <a:xfrm>
            <a:off x="3291840" y="4434840"/>
            <a:ext cx="292608" cy="0"/>
          </a:xfrm>
          <a:prstGeom prst="line">
            <a:avLst/>
          </a:prstGeom>
          <a:noFill/>
          <a:ln w="19050">
            <a:solidFill>
              <a:srgbClr val="C25E00"/>
            </a:solidFill>
            <a:prstDash val="solid"/>
          </a:ln>
        </p:spPr>
      </p:sp>
      <p:sp>
        <p:nvSpPr>
          <p:cNvPr id="18" name="Shape 16"/>
          <p:cNvSpPr/>
          <p:nvPr/>
        </p:nvSpPr>
        <p:spPr>
          <a:xfrm>
            <a:off x="3584448" y="1965960"/>
            <a:ext cx="0" cy="2468880"/>
          </a:xfrm>
          <a:prstGeom prst="line">
            <a:avLst/>
          </a:prstGeom>
          <a:noFill/>
          <a:ln w="19050">
            <a:solidFill>
              <a:srgbClr val="C25E00"/>
            </a:solidFill>
            <a:prstDash val="solid"/>
          </a:ln>
        </p:spPr>
      </p:sp>
      <p:sp>
        <p:nvSpPr>
          <p:cNvPr id="19" name="Shape 17"/>
          <p:cNvSpPr/>
          <p:nvPr/>
        </p:nvSpPr>
        <p:spPr>
          <a:xfrm>
            <a:off x="3584448" y="3200400"/>
            <a:ext cx="484632" cy="0"/>
          </a:xfrm>
          <a:prstGeom prst="line">
            <a:avLst/>
          </a:prstGeom>
          <a:noFill/>
          <a:ln w="19050">
            <a:solidFill>
              <a:srgbClr val="C25E00"/>
            </a:solidFill>
            <a:prstDash val="solid"/>
            <a:tailEnd type="triangle"/>
          </a:ln>
        </p:spPr>
      </p:sp>
      <p:sp>
        <p:nvSpPr>
          <p:cNvPr id="20" name="Shape 18"/>
          <p:cNvSpPr/>
          <p:nvPr/>
        </p:nvSpPr>
        <p:spPr>
          <a:xfrm>
            <a:off x="4069080" y="2377440"/>
            <a:ext cx="2560320" cy="1645920"/>
          </a:xfrm>
          <a:prstGeom prst="roundRect">
            <a:avLst>
              <a:gd name="adj" fmla="val 3333"/>
            </a:avLst>
          </a:prstGeom>
          <a:solidFill>
            <a:srgbClr val="2B3A42"/>
          </a:solidFill>
          <a:ln/>
        </p:spPr>
      </p:sp>
      <p:sp>
        <p:nvSpPr>
          <p:cNvPr id="21" name="Text 19"/>
          <p:cNvSpPr/>
          <p:nvPr/>
        </p:nvSpPr>
        <p:spPr>
          <a:xfrm>
            <a:off x="4251960" y="2606040"/>
            <a:ext cx="2194560" cy="3200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Warehouse</a:t>
            </a:r>
            <a:endParaRPr lang="en-US" sz="1900" dirty="0"/>
          </a:p>
        </p:txBody>
      </p:sp>
      <p:sp>
        <p:nvSpPr>
          <p:cNvPr id="22" name="Text 20"/>
          <p:cNvSpPr/>
          <p:nvPr/>
        </p:nvSpPr>
        <p:spPr>
          <a:xfrm>
            <a:off x="4251960" y="2971800"/>
            <a:ext cx="2194560" cy="822960"/>
          </a:xfrm>
          <a:prstGeom prst="rect">
            <a:avLst/>
          </a:prstGeom>
          <a:noFill/>
          <a:ln/>
        </p:spPr>
        <p:txBody>
          <a:bodyPr wrap="square" lIns="0" tIns="0" rIns="0" bIns="0" rtlCol="0" anchor="ctr"/>
          <a:lstStyle/>
          <a:p>
            <a:pPr algn="ctr" indent="0" marL="0">
              <a:lnSpc>
                <a:spcPts val="1600"/>
              </a:lnSpc>
              <a:buNone/>
            </a:pPr>
            <a:r>
              <a:rPr lang="en-US" sz="1200" dirty="0">
                <a:solidFill>
                  <a:srgbClr val="CFD8DC"/>
                </a:solidFill>
                <a:latin typeface="Calibri" pitchFamily="34" charset="0"/>
                <a:ea typeface="Calibri" pitchFamily="34" charset="-122"/>
                <a:cs typeface="Calibri" pitchFamily="34" charset="-120"/>
              </a:rPr>
              <a:t>One conformed set of KPI definitions, mapped across both sources</a:t>
            </a:r>
            <a:endParaRPr lang="en-US" sz="1200" dirty="0"/>
          </a:p>
        </p:txBody>
      </p:sp>
      <p:sp>
        <p:nvSpPr>
          <p:cNvPr id="23" name="Shape 21"/>
          <p:cNvSpPr/>
          <p:nvPr/>
        </p:nvSpPr>
        <p:spPr>
          <a:xfrm>
            <a:off x="6629400" y="3200400"/>
            <a:ext cx="777240" cy="0"/>
          </a:xfrm>
          <a:prstGeom prst="line">
            <a:avLst/>
          </a:prstGeom>
          <a:noFill/>
          <a:ln w="19050">
            <a:solidFill>
              <a:srgbClr val="C25E00"/>
            </a:solidFill>
            <a:prstDash val="solid"/>
            <a:tailEnd type="triangle"/>
          </a:ln>
        </p:spPr>
      </p:sp>
      <p:sp>
        <p:nvSpPr>
          <p:cNvPr id="24" name="Shape 22"/>
          <p:cNvSpPr/>
          <p:nvPr/>
        </p:nvSpPr>
        <p:spPr>
          <a:xfrm>
            <a:off x="7406640" y="2606040"/>
            <a:ext cx="2103120" cy="1188720"/>
          </a:xfrm>
          <a:prstGeom prst="roundRect">
            <a:avLst>
              <a:gd name="adj" fmla="val 3846"/>
            </a:avLst>
          </a:prstGeom>
          <a:solidFill>
            <a:srgbClr val="C25E00"/>
          </a:solidFill>
          <a:ln/>
        </p:spPr>
      </p:sp>
      <p:sp>
        <p:nvSpPr>
          <p:cNvPr id="25" name="Text 23"/>
          <p:cNvSpPr/>
          <p:nvPr/>
        </p:nvSpPr>
        <p:spPr>
          <a:xfrm>
            <a:off x="7543800" y="2880360"/>
            <a:ext cx="18288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Leadership KPIs</a:t>
            </a:r>
            <a:endParaRPr lang="en-US" sz="1500" dirty="0"/>
          </a:p>
        </p:txBody>
      </p:sp>
      <p:sp>
        <p:nvSpPr>
          <p:cNvPr id="26" name="Shape 24"/>
          <p:cNvSpPr/>
          <p:nvPr/>
        </p:nvSpPr>
        <p:spPr>
          <a:xfrm>
            <a:off x="9784080" y="1508760"/>
            <a:ext cx="1828800" cy="3383280"/>
          </a:xfrm>
          <a:prstGeom prst="roundRect">
            <a:avLst>
              <a:gd name="adj" fmla="val 3000"/>
            </a:avLst>
          </a:prstGeom>
          <a:solidFill>
            <a:srgbClr val="F2F4F5"/>
          </a:solidFill>
          <a:ln w="9525">
            <a:solidFill>
              <a:srgbClr val="D6DDE0"/>
            </a:solidFill>
            <a:prstDash val="solid"/>
          </a:ln>
        </p:spPr>
      </p:sp>
      <p:sp>
        <p:nvSpPr>
          <p:cNvPr id="27" name="Text 25"/>
          <p:cNvSpPr/>
          <p:nvPr/>
        </p:nvSpPr>
        <p:spPr>
          <a:xfrm>
            <a:off x="9966960" y="1664208"/>
            <a:ext cx="1554480" cy="274320"/>
          </a:xfrm>
          <a:prstGeom prst="rect">
            <a:avLst/>
          </a:prstGeom>
          <a:noFill/>
          <a:ln/>
        </p:spPr>
        <p:txBody>
          <a:bodyPr wrap="square" lIns="0" tIns="0" rIns="0" bIns="0" rtlCol="0" anchor="ctr"/>
          <a:lstStyle/>
          <a:p>
            <a:pPr indent="0" marL="0">
              <a:buNone/>
            </a:pPr>
            <a:r>
              <a:rPr lang="en-US" sz="1300" b="1" dirty="0">
                <a:solidFill>
                  <a:srgbClr val="C25E00"/>
                </a:solidFill>
                <a:latin typeface="Calibri" pitchFamily="34" charset="0"/>
                <a:ea typeface="Calibri" pitchFamily="34" charset="-122"/>
                <a:cs typeface="Calibri" pitchFamily="34" charset="-120"/>
              </a:rPr>
              <a:t>The 10 KPIs</a:t>
            </a:r>
            <a:endParaRPr lang="en-US" sz="1300" dirty="0"/>
          </a:p>
        </p:txBody>
      </p:sp>
      <p:sp>
        <p:nvSpPr>
          <p:cNvPr id="28" name="Text 26"/>
          <p:cNvSpPr/>
          <p:nvPr/>
        </p:nvSpPr>
        <p:spPr>
          <a:xfrm>
            <a:off x="9966960" y="1993392"/>
            <a:ext cx="1554480" cy="2743200"/>
          </a:xfrm>
          <a:prstGeom prst="rect">
            <a:avLst/>
          </a:prstGeom>
          <a:noFill/>
          <a:ln/>
        </p:spPr>
        <p:txBody>
          <a:bodyPr wrap="square" lIns="0" tIns="0" rIns="0" bIns="0" rtlCol="0" anchor="ctr"/>
          <a:lstStyle/>
          <a:p>
            <a:pPr indent="0" marL="0">
              <a:lnSpc>
                <a:spcPts val="1500"/>
              </a:lnSpc>
              <a:buNone/>
            </a:pPr>
            <a:r>
              <a:rPr lang="en-US" sz="1100" dirty="0">
                <a:solidFill>
                  <a:srgbClr val="2B3A42"/>
                </a:solidFill>
                <a:latin typeface="Calibri" pitchFamily="34" charset="0"/>
                <a:ea typeface="Calibri" pitchFamily="34" charset="-122"/>
                <a:cs typeface="Calibri" pitchFamily="34" charset="-120"/>
              </a:rPr>
              <a:t>Revenue</a:t>
            </a:r>
            <a:endParaRPr lang="en-US" sz="1100" dirty="0"/>
          </a:p>
          <a:p>
            <a:pPr indent="0" marL="0">
              <a:lnSpc>
                <a:spcPts val="1500"/>
              </a:lnSpc>
              <a:buNone/>
            </a:pPr>
            <a:r>
              <a:rPr lang="en-US" sz="1100" dirty="0">
                <a:solidFill>
                  <a:srgbClr val="2B3A42"/>
                </a:solidFill>
                <a:latin typeface="Calibri" pitchFamily="34" charset="0"/>
                <a:ea typeface="Calibri" pitchFamily="34" charset="-122"/>
                <a:cs typeface="Calibri" pitchFamily="34" charset="-120"/>
              </a:rPr>
              <a:t>Gross margin</a:t>
            </a:r>
            <a:endParaRPr lang="en-US" sz="1100" dirty="0"/>
          </a:p>
          <a:p>
            <a:pPr indent="0" marL="0">
              <a:lnSpc>
                <a:spcPts val="1500"/>
              </a:lnSpc>
              <a:buNone/>
            </a:pPr>
            <a:r>
              <a:rPr lang="en-US" sz="1100" dirty="0">
                <a:solidFill>
                  <a:srgbClr val="2B3A42"/>
                </a:solidFill>
                <a:latin typeface="Calibri" pitchFamily="34" charset="0"/>
                <a:ea typeface="Calibri" pitchFamily="34" charset="-122"/>
                <a:cs typeface="Calibri" pitchFamily="34" charset="-120"/>
              </a:rPr>
              <a:t>Contribution margin by job</a:t>
            </a:r>
            <a:endParaRPr lang="en-US" sz="1100" dirty="0"/>
          </a:p>
          <a:p>
            <a:pPr indent="0" marL="0">
              <a:lnSpc>
                <a:spcPts val="1500"/>
              </a:lnSpc>
              <a:buNone/>
            </a:pPr>
            <a:r>
              <a:rPr lang="en-US" sz="1100" dirty="0">
                <a:solidFill>
                  <a:srgbClr val="2B3A42"/>
                </a:solidFill>
                <a:latin typeface="Calibri" pitchFamily="34" charset="0"/>
                <a:ea typeface="Calibri" pitchFamily="34" charset="-122"/>
                <a:cs typeface="Calibri" pitchFamily="34" charset="-120"/>
              </a:rPr>
              <a:t>Backlog</a:t>
            </a:r>
            <a:endParaRPr lang="en-US" sz="1100" dirty="0"/>
          </a:p>
          <a:p>
            <a:pPr indent="0" marL="0">
              <a:lnSpc>
                <a:spcPts val="1500"/>
              </a:lnSpc>
              <a:buNone/>
            </a:pPr>
            <a:r>
              <a:rPr lang="en-US" sz="1100" dirty="0">
                <a:solidFill>
                  <a:srgbClr val="2B3A42"/>
                </a:solidFill>
                <a:latin typeface="Calibri" pitchFamily="34" charset="0"/>
                <a:ea typeface="Calibri" pitchFamily="34" charset="-122"/>
                <a:cs typeface="Calibri" pitchFamily="34" charset="-120"/>
              </a:rPr>
              <a:t>On-time delivery</a:t>
            </a:r>
            <a:endParaRPr lang="en-US" sz="1100" dirty="0"/>
          </a:p>
          <a:p>
            <a:pPr indent="0" marL="0">
              <a:lnSpc>
                <a:spcPts val="1500"/>
              </a:lnSpc>
              <a:buNone/>
            </a:pPr>
            <a:r>
              <a:rPr lang="en-US" sz="1100" dirty="0">
                <a:solidFill>
                  <a:srgbClr val="2B3A42"/>
                </a:solidFill>
                <a:latin typeface="Calibri" pitchFamily="34" charset="0"/>
                <a:ea typeface="Calibri" pitchFamily="34" charset="-122"/>
                <a:cs typeface="Calibri" pitchFamily="34" charset="-120"/>
              </a:rPr>
              <a:t>Quote-to-order conversion</a:t>
            </a:r>
            <a:endParaRPr lang="en-US" sz="1100" dirty="0"/>
          </a:p>
          <a:p>
            <a:pPr indent="0" marL="0">
              <a:lnSpc>
                <a:spcPts val="1500"/>
              </a:lnSpc>
              <a:buNone/>
            </a:pPr>
            <a:r>
              <a:rPr lang="en-US" sz="1100" dirty="0">
                <a:solidFill>
                  <a:srgbClr val="2B3A42"/>
                </a:solidFill>
                <a:latin typeface="Calibri" pitchFamily="34" charset="0"/>
                <a:ea typeface="Calibri" pitchFamily="34" charset="-122"/>
                <a:cs typeface="Calibri" pitchFamily="34" charset="-120"/>
              </a:rPr>
              <a:t>WIP aging</a:t>
            </a:r>
            <a:endParaRPr lang="en-US" sz="1100" dirty="0"/>
          </a:p>
          <a:p>
            <a:pPr indent="0" marL="0">
              <a:lnSpc>
                <a:spcPts val="1500"/>
              </a:lnSpc>
              <a:buNone/>
            </a:pPr>
            <a:r>
              <a:rPr lang="en-US" sz="1100" dirty="0">
                <a:solidFill>
                  <a:srgbClr val="2B3A42"/>
                </a:solidFill>
                <a:latin typeface="Calibri" pitchFamily="34" charset="0"/>
                <a:ea typeface="Calibri" pitchFamily="34" charset="-122"/>
                <a:cs typeface="Calibri" pitchFamily="34" charset="-120"/>
              </a:rPr>
              <a:t>Inventory turns</a:t>
            </a:r>
            <a:endParaRPr lang="en-US" sz="1100" dirty="0"/>
          </a:p>
          <a:p>
            <a:pPr indent="0" marL="0">
              <a:lnSpc>
                <a:spcPts val="1500"/>
              </a:lnSpc>
              <a:buNone/>
            </a:pPr>
            <a:r>
              <a:rPr lang="en-US" sz="1100" dirty="0">
                <a:solidFill>
                  <a:srgbClr val="2B3A42"/>
                </a:solidFill>
                <a:latin typeface="Calibri" pitchFamily="34" charset="0"/>
                <a:ea typeface="Calibri" pitchFamily="34" charset="-122"/>
                <a:cs typeface="Calibri" pitchFamily="34" charset="-120"/>
              </a:rPr>
              <a:t>Labor efficiency</a:t>
            </a:r>
            <a:endParaRPr lang="en-US" sz="1100" dirty="0"/>
          </a:p>
          <a:p>
            <a:pPr indent="0" marL="0">
              <a:lnSpc>
                <a:spcPts val="1500"/>
              </a:lnSpc>
              <a:buNone/>
            </a:pPr>
            <a:r>
              <a:rPr lang="en-US" sz="1100" dirty="0">
                <a:solidFill>
                  <a:srgbClr val="2B3A42"/>
                </a:solidFill>
                <a:latin typeface="Calibri" pitchFamily="34" charset="0"/>
                <a:ea typeface="Calibri" pitchFamily="34" charset="-122"/>
                <a:cs typeface="Calibri" pitchFamily="34" charset="-120"/>
              </a:rPr>
              <a:t>Aftermarket attach</a:t>
            </a:r>
            <a:endParaRPr lang="en-US" sz="1100" dirty="0"/>
          </a:p>
        </p:txBody>
      </p:sp>
      <p:sp>
        <p:nvSpPr>
          <p:cNvPr id="29" name="Text 27"/>
          <p:cNvSpPr/>
          <p:nvPr/>
        </p:nvSpPr>
        <p:spPr>
          <a:xfrm>
            <a:off x="9966960" y="5029200"/>
            <a:ext cx="1737360" cy="822960"/>
          </a:xfrm>
          <a:prstGeom prst="rect">
            <a:avLst/>
          </a:prstGeom>
          <a:noFill/>
          <a:ln/>
        </p:spPr>
        <p:txBody>
          <a:bodyPr wrap="square" lIns="0" tIns="0" rIns="0" bIns="0" rtlCol="0" anchor="ctr"/>
          <a:lstStyle/>
          <a:p>
            <a:pPr indent="0" marL="0">
              <a:buNone/>
            </a:pPr>
            <a:r>
              <a:rPr lang="en-US" sz="1050" i="1" dirty="0">
                <a:solidFill>
                  <a:srgbClr val="6B7A82"/>
                </a:solidFill>
                <a:latin typeface="Calibri" pitchFamily="34" charset="0"/>
                <a:ea typeface="Calibri" pitchFamily="34" charset="-122"/>
                <a:cs typeface="Calibri" pitchFamily="34" charset="-120"/>
              </a:rPr>
              <a:t>Defined and frozen in M0-M2, before anyone can argue the numbers changed.</a:t>
            </a:r>
            <a:endParaRPr lang="en-US" sz="1050" dirty="0"/>
          </a:p>
        </p:txBody>
      </p:sp>
      <p:sp>
        <p:nvSpPr>
          <p:cNvPr id="30" name="Shape 28"/>
          <p:cNvSpPr/>
          <p:nvPr/>
        </p:nvSpPr>
        <p:spPr>
          <a:xfrm>
            <a:off x="548640" y="5166360"/>
            <a:ext cx="8961120" cy="1051560"/>
          </a:xfrm>
          <a:prstGeom prst="roundRect">
            <a:avLst>
              <a:gd name="adj" fmla="val 5217"/>
            </a:avLst>
          </a:prstGeom>
          <a:solidFill>
            <a:srgbClr val="F2F4F5"/>
          </a:solidFill>
          <a:ln w="9525">
            <a:solidFill>
              <a:srgbClr val="D6DDE0"/>
            </a:solidFill>
            <a:prstDash val="solid"/>
          </a:ln>
        </p:spPr>
      </p:sp>
      <p:sp>
        <p:nvSpPr>
          <p:cNvPr id="31" name="Text 29"/>
          <p:cNvSpPr/>
          <p:nvPr/>
        </p:nvSpPr>
        <p:spPr>
          <a:xfrm>
            <a:off x="822960" y="5285232"/>
            <a:ext cx="8412480" cy="25603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Why outside, and not in the ERP:</a:t>
            </a:r>
            <a:endParaRPr lang="en-US" sz="1250" dirty="0"/>
          </a:p>
        </p:txBody>
      </p:sp>
      <p:sp>
        <p:nvSpPr>
          <p:cNvPr id="32" name="Text 30"/>
          <p:cNvSpPr/>
          <p:nvPr/>
        </p:nvSpPr>
        <p:spPr>
          <a:xfrm>
            <a:off x="822960" y="5559552"/>
            <a:ext cx="8412480" cy="594360"/>
          </a:xfrm>
          <a:prstGeom prst="rect">
            <a:avLst/>
          </a:prstGeom>
          <a:noFill/>
          <a:ln/>
        </p:spPr>
        <p:txBody>
          <a:bodyPr wrap="square" lIns="0" tIns="0" rIns="0" bIns="0" rtlCol="0" anchor="t"/>
          <a:lstStyle/>
          <a:p>
            <a:pPr indent="0" marL="0">
              <a:lnSpc>
                <a:spcPts val="1500"/>
              </a:lnSpc>
              <a:buNone/>
            </a:pPr>
            <a:r>
              <a:rPr lang="en-US" sz="1150" dirty="0">
                <a:solidFill>
                  <a:srgbClr val="2B3A42"/>
                </a:solidFill>
                <a:latin typeface="Calibri" pitchFamily="34" charset="0"/>
                <a:ea typeface="Calibri" pitchFamily="34" charset="-122"/>
                <a:cs typeface="Calibri" pitchFamily="34" charset="-120"/>
              </a:rPr>
              <a:t>Group reporting never comes from either ERP directly, so it survives every wave. The numbers don't quietly change on cutover weekend, which is the fastest way to lose executive trust in a new system. Reporting change requests freeze from mock cutover 2 through Wave 1 + 30 days. Expect a reporting dark period of about five business days at each cutover: we're saying so now rather than apologizing for it later.</a:t>
            </a:r>
            <a:endParaRPr lang="en-US" sz="1150" dirty="0"/>
          </a:p>
        </p:txBody>
      </p:sp>
      <p:sp>
        <p:nvSpPr>
          <p:cNvPr id="33" name="Text 31"/>
          <p:cNvSpPr/>
          <p:nvPr/>
        </p:nvSpPr>
        <p:spPr>
          <a:xfrm>
            <a:off x="548640" y="6419088"/>
            <a:ext cx="5486400" cy="228600"/>
          </a:xfrm>
          <a:prstGeom prst="rect">
            <a:avLst/>
          </a:prstGeom>
          <a:noFill/>
          <a:ln/>
        </p:spPr>
        <p:txBody>
          <a:bodyPr wrap="square" lIns="0" tIns="0" rIns="0" bIns="0" rtlCol="0" anchor="ctr"/>
          <a:lstStyle/>
          <a:p>
            <a:pPr indent="0" marL="0">
              <a:buNone/>
            </a:pPr>
            <a:r>
              <a:rPr lang="en-US" sz="850" dirty="0">
                <a:solidFill>
                  <a:srgbClr val="6B7A82"/>
                </a:solidFill>
                <a:latin typeface="Calibri" pitchFamily="34" charset="0"/>
                <a:ea typeface="Calibri" pitchFamily="34" charset="-122"/>
                <a:cs typeface="Calibri" pitchFamily="34" charset="-120"/>
              </a:rPr>
              <a:t>AMG ERP Transformation  |  Confidential</a:t>
            </a:r>
            <a:endParaRPr lang="en-US" sz="850" dirty="0"/>
          </a:p>
        </p:txBody>
      </p:sp>
      <p:sp>
        <p:nvSpPr>
          <p:cNvPr id="34" name="Text 32"/>
          <p:cNvSpPr/>
          <p:nvPr/>
        </p:nvSpPr>
        <p:spPr>
          <a:xfrm>
            <a:off x="11064240" y="6419088"/>
            <a:ext cx="548640" cy="228600"/>
          </a:xfrm>
          <a:prstGeom prst="rect">
            <a:avLst/>
          </a:prstGeom>
          <a:noFill/>
          <a:ln/>
        </p:spPr>
        <p:txBody>
          <a:bodyPr wrap="square" lIns="0" tIns="0" rIns="0" bIns="0" rtlCol="0" anchor="ctr"/>
          <a:lstStyle/>
          <a:p>
            <a:pPr algn="r" indent="0" marL="0">
              <a:buNone/>
            </a:pPr>
            <a:r>
              <a:rPr lang="en-US" sz="850" dirty="0">
                <a:solidFill>
                  <a:srgbClr val="6B7A82"/>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10896" cy="310896"/>
          </a:xfrm>
          <a:prstGeom prst="rect">
            <a:avLst/>
          </a:prstGeom>
          <a:solidFill>
            <a:srgbClr val="C25E00"/>
          </a:solidFill>
          <a:ln/>
        </p:spPr>
      </p:sp>
      <p:sp>
        <p:nvSpPr>
          <p:cNvPr id="3" name="Text 1"/>
          <p:cNvSpPr/>
          <p:nvPr/>
        </p:nvSpPr>
        <p:spPr>
          <a:xfrm>
            <a:off x="548640" y="3840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 name="Text 2"/>
          <p:cNvSpPr/>
          <p:nvPr/>
        </p:nvSpPr>
        <p:spPr>
          <a:xfrm>
            <a:off x="987552" y="347472"/>
            <a:ext cx="10607040" cy="402336"/>
          </a:xfrm>
          <a:prstGeom prst="rect">
            <a:avLst/>
          </a:prstGeom>
          <a:noFill/>
          <a:ln/>
        </p:spPr>
        <p:txBody>
          <a:bodyPr wrap="square" lIns="0" tIns="0" rIns="0" bIns="0" rtlCol="0" anchor="ctr"/>
          <a:lstStyle/>
          <a:p>
            <a:pPr algn="l" indent="0" marL="0">
              <a:buNone/>
            </a:pPr>
            <a:r>
              <a:rPr lang="en-US" sz="2700" b="1" dirty="0">
                <a:solidFill>
                  <a:srgbClr val="2B3A42"/>
                </a:solidFill>
                <a:latin typeface="Cambria" pitchFamily="34" charset="0"/>
                <a:ea typeface="Cambria" pitchFamily="34" charset="-122"/>
                <a:cs typeface="Cambria" pitchFamily="34" charset="-120"/>
              </a:rPr>
              <a:t>Month-end close continuity</a:t>
            </a:r>
            <a:endParaRPr lang="en-US" sz="2700" dirty="0"/>
          </a:p>
        </p:txBody>
      </p:sp>
      <p:sp>
        <p:nvSpPr>
          <p:cNvPr id="5" name="Text 3"/>
          <p:cNvSpPr/>
          <p:nvPr/>
        </p:nvSpPr>
        <p:spPr>
          <a:xfrm>
            <a:off x="987552" y="786384"/>
            <a:ext cx="10607040" cy="274320"/>
          </a:xfrm>
          <a:prstGeom prst="rect">
            <a:avLst/>
          </a:prstGeom>
          <a:noFill/>
          <a:ln/>
        </p:spPr>
        <p:txBody>
          <a:bodyPr wrap="square" lIns="0" tIns="0" rIns="0" bIns="0" rtlCol="0" anchor="t"/>
          <a:lstStyle/>
          <a:p>
            <a:pPr indent="0" marL="0">
              <a:buNone/>
            </a:pPr>
            <a:r>
              <a:rPr lang="en-US" sz="1250" i="1" dirty="0">
                <a:solidFill>
                  <a:srgbClr val="6B7A82"/>
                </a:solidFill>
                <a:latin typeface="Calibri" pitchFamily="34" charset="0"/>
                <a:ea typeface="Calibri" pitchFamily="34" charset="-122"/>
                <a:cs typeface="Calibri" pitchFamily="34" charset="-120"/>
              </a:rPr>
              <a:t>We rehearse the close before we need it.</a:t>
            </a:r>
            <a:endParaRPr lang="en-US" sz="1250" dirty="0"/>
          </a:p>
        </p:txBody>
      </p:sp>
      <p:sp>
        <p:nvSpPr>
          <p:cNvPr id="6" name="Shape 4"/>
          <p:cNvSpPr/>
          <p:nvPr/>
        </p:nvSpPr>
        <p:spPr>
          <a:xfrm>
            <a:off x="566928" y="1563624"/>
            <a:ext cx="475488" cy="475488"/>
          </a:xfrm>
          <a:prstGeom prst="ellipse">
            <a:avLst/>
          </a:prstGeom>
          <a:solidFill>
            <a:srgbClr val="2B3A42"/>
          </a:solidFill>
          <a:ln/>
        </p:spPr>
      </p:sp>
      <p:sp>
        <p:nvSpPr>
          <p:cNvPr id="7" name="Text 5"/>
          <p:cNvSpPr/>
          <p:nvPr/>
        </p:nvSpPr>
        <p:spPr>
          <a:xfrm>
            <a:off x="566928" y="1563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261872" y="1508760"/>
            <a:ext cx="2377440" cy="292608"/>
          </a:xfrm>
          <a:prstGeom prst="rect">
            <a:avLst/>
          </a:prstGeom>
          <a:noFill/>
          <a:ln/>
        </p:spPr>
        <p:txBody>
          <a:bodyPr wrap="square" lIns="0" tIns="0" rIns="0" bIns="0" rtlCol="0" anchor="ctr"/>
          <a:lstStyle/>
          <a:p>
            <a:pPr indent="0" marL="0">
              <a:buNone/>
            </a:pPr>
            <a:r>
              <a:rPr lang="en-US" sz="1550" b="1" dirty="0">
                <a:solidFill>
                  <a:srgbClr val="C25E00"/>
                </a:solidFill>
                <a:latin typeface="Calibri" pitchFamily="34" charset="0"/>
                <a:ea typeface="Calibri" pitchFamily="34" charset="-122"/>
                <a:cs typeface="Calibri" pitchFamily="34" charset="-120"/>
              </a:rPr>
              <a:t>Time the cutover</a:t>
            </a:r>
            <a:endParaRPr lang="en-US" sz="1550" dirty="0"/>
          </a:p>
        </p:txBody>
      </p:sp>
      <p:sp>
        <p:nvSpPr>
          <p:cNvPr id="9" name="Text 7"/>
          <p:cNvSpPr/>
          <p:nvPr/>
        </p:nvSpPr>
        <p:spPr>
          <a:xfrm>
            <a:off x="3749040" y="1508760"/>
            <a:ext cx="7863840" cy="566928"/>
          </a:xfrm>
          <a:prstGeom prst="rect">
            <a:avLst/>
          </a:prstGeom>
          <a:noFill/>
          <a:ln/>
        </p:spPr>
        <p:txBody>
          <a:bodyPr wrap="square" lIns="0" tIns="0" rIns="0" bIns="0" rtlCol="0" anchor="ctr"/>
          <a:lstStyle/>
          <a:p>
            <a:pPr indent="0" marL="0">
              <a:lnSpc>
                <a:spcPts val="1700"/>
              </a:lnSpc>
              <a:buNone/>
            </a:pPr>
            <a:r>
              <a:rPr lang="en-US" sz="1300" dirty="0">
                <a:solidFill>
                  <a:srgbClr val="2B3A42"/>
                </a:solidFill>
                <a:latin typeface="Calibri" pitchFamily="34" charset="0"/>
                <a:ea typeface="Calibri" pitchFamily="34" charset="-122"/>
                <a:cs typeface="Calibri" pitchFamily="34" charset="-120"/>
              </a:rPr>
              <a:t>Wave 1 lands at a fiscal quarter start. Not at year end. Not into an open close.</a:t>
            </a:r>
            <a:endParaRPr lang="en-US" sz="1300" dirty="0"/>
          </a:p>
        </p:txBody>
      </p:sp>
      <p:sp>
        <p:nvSpPr>
          <p:cNvPr id="10" name="Shape 8"/>
          <p:cNvSpPr/>
          <p:nvPr/>
        </p:nvSpPr>
        <p:spPr>
          <a:xfrm>
            <a:off x="1261872" y="2276856"/>
            <a:ext cx="10332720" cy="9144"/>
          </a:xfrm>
          <a:prstGeom prst="rect">
            <a:avLst/>
          </a:prstGeom>
          <a:solidFill>
            <a:srgbClr val="D6DDE0"/>
          </a:solidFill>
          <a:ln/>
        </p:spPr>
      </p:sp>
      <p:sp>
        <p:nvSpPr>
          <p:cNvPr id="11" name="Shape 9"/>
          <p:cNvSpPr/>
          <p:nvPr/>
        </p:nvSpPr>
        <p:spPr>
          <a:xfrm>
            <a:off x="566928" y="2523744"/>
            <a:ext cx="475488" cy="475488"/>
          </a:xfrm>
          <a:prstGeom prst="ellipse">
            <a:avLst/>
          </a:prstGeom>
          <a:solidFill>
            <a:srgbClr val="2B3A42"/>
          </a:solidFill>
          <a:ln/>
        </p:spPr>
      </p:sp>
      <p:sp>
        <p:nvSpPr>
          <p:cNvPr id="12" name="Text 10"/>
          <p:cNvSpPr/>
          <p:nvPr/>
        </p:nvSpPr>
        <p:spPr>
          <a:xfrm>
            <a:off x="566928" y="252374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261872" y="2468880"/>
            <a:ext cx="2377440" cy="292608"/>
          </a:xfrm>
          <a:prstGeom prst="rect">
            <a:avLst/>
          </a:prstGeom>
          <a:noFill/>
          <a:ln/>
        </p:spPr>
        <p:txBody>
          <a:bodyPr wrap="square" lIns="0" tIns="0" rIns="0" bIns="0" rtlCol="0" anchor="ctr"/>
          <a:lstStyle/>
          <a:p>
            <a:pPr indent="0" marL="0">
              <a:buNone/>
            </a:pPr>
            <a:r>
              <a:rPr lang="en-US" sz="1550" b="1" dirty="0">
                <a:solidFill>
                  <a:srgbClr val="C25E00"/>
                </a:solidFill>
                <a:latin typeface="Calibri" pitchFamily="34" charset="0"/>
                <a:ea typeface="Calibri" pitchFamily="34" charset="-122"/>
                <a:cs typeface="Calibri" pitchFamily="34" charset="-120"/>
              </a:rPr>
              <a:t>Rehearse it</a:t>
            </a:r>
            <a:endParaRPr lang="en-US" sz="1550" dirty="0"/>
          </a:p>
        </p:txBody>
      </p:sp>
      <p:sp>
        <p:nvSpPr>
          <p:cNvPr id="14" name="Text 12"/>
          <p:cNvSpPr/>
          <p:nvPr/>
        </p:nvSpPr>
        <p:spPr>
          <a:xfrm>
            <a:off x="3749040" y="2468880"/>
            <a:ext cx="7863840" cy="566928"/>
          </a:xfrm>
          <a:prstGeom prst="rect">
            <a:avLst/>
          </a:prstGeom>
          <a:noFill/>
          <a:ln/>
        </p:spPr>
        <p:txBody>
          <a:bodyPr wrap="square" lIns="0" tIns="0" rIns="0" bIns="0" rtlCol="0" anchor="ctr"/>
          <a:lstStyle/>
          <a:p>
            <a:pPr indent="0" marL="0">
              <a:lnSpc>
                <a:spcPts val="1700"/>
              </a:lnSpc>
              <a:buNone/>
            </a:pPr>
            <a:r>
              <a:rPr lang="en-US" sz="1300" dirty="0">
                <a:solidFill>
                  <a:srgbClr val="2B3A42"/>
                </a:solidFill>
                <a:latin typeface="Calibri" pitchFamily="34" charset="0"/>
                <a:ea typeface="Calibri" pitchFamily="34" charset="-122"/>
                <a:cs typeface="Calibri" pitchFamily="34" charset="-120"/>
              </a:rPr>
              <a:t>Mock cutover 2 includes a full trial close in the new system on migrated data, signed off by the Controller.</a:t>
            </a:r>
            <a:endParaRPr lang="en-US" sz="1300" dirty="0"/>
          </a:p>
        </p:txBody>
      </p:sp>
      <p:sp>
        <p:nvSpPr>
          <p:cNvPr id="15" name="Shape 13"/>
          <p:cNvSpPr/>
          <p:nvPr/>
        </p:nvSpPr>
        <p:spPr>
          <a:xfrm>
            <a:off x="1261872" y="3236976"/>
            <a:ext cx="10332720" cy="9144"/>
          </a:xfrm>
          <a:prstGeom prst="rect">
            <a:avLst/>
          </a:prstGeom>
          <a:solidFill>
            <a:srgbClr val="D6DDE0"/>
          </a:solidFill>
          <a:ln/>
        </p:spPr>
      </p:sp>
      <p:sp>
        <p:nvSpPr>
          <p:cNvPr id="16" name="Shape 14"/>
          <p:cNvSpPr/>
          <p:nvPr/>
        </p:nvSpPr>
        <p:spPr>
          <a:xfrm>
            <a:off x="566928" y="3483864"/>
            <a:ext cx="475488" cy="475488"/>
          </a:xfrm>
          <a:prstGeom prst="ellipse">
            <a:avLst/>
          </a:prstGeom>
          <a:solidFill>
            <a:srgbClr val="2B3A42"/>
          </a:solidFill>
          <a:ln/>
        </p:spPr>
      </p:sp>
      <p:sp>
        <p:nvSpPr>
          <p:cNvPr id="17" name="Text 15"/>
          <p:cNvSpPr/>
          <p:nvPr/>
        </p:nvSpPr>
        <p:spPr>
          <a:xfrm>
            <a:off x="566928" y="348386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261872" y="3429000"/>
            <a:ext cx="2377440" cy="292608"/>
          </a:xfrm>
          <a:prstGeom prst="rect">
            <a:avLst/>
          </a:prstGeom>
          <a:noFill/>
          <a:ln/>
        </p:spPr>
        <p:txBody>
          <a:bodyPr wrap="square" lIns="0" tIns="0" rIns="0" bIns="0" rtlCol="0" anchor="ctr"/>
          <a:lstStyle/>
          <a:p>
            <a:pPr indent="0" marL="0">
              <a:buNone/>
            </a:pPr>
            <a:r>
              <a:rPr lang="en-US" sz="1550" b="1" dirty="0">
                <a:solidFill>
                  <a:srgbClr val="C25E00"/>
                </a:solidFill>
                <a:latin typeface="Calibri" pitchFamily="34" charset="0"/>
                <a:ea typeface="Calibri" pitchFamily="34" charset="-122"/>
                <a:cs typeface="Calibri" pitchFamily="34" charset="-120"/>
              </a:rPr>
              <a:t>Plan for slower</a:t>
            </a:r>
            <a:endParaRPr lang="en-US" sz="1550" dirty="0"/>
          </a:p>
        </p:txBody>
      </p:sp>
      <p:sp>
        <p:nvSpPr>
          <p:cNvPr id="19" name="Text 17"/>
          <p:cNvSpPr/>
          <p:nvPr/>
        </p:nvSpPr>
        <p:spPr>
          <a:xfrm>
            <a:off x="3749040" y="3429000"/>
            <a:ext cx="7863840" cy="566928"/>
          </a:xfrm>
          <a:prstGeom prst="rect">
            <a:avLst/>
          </a:prstGeom>
          <a:noFill/>
          <a:ln/>
        </p:spPr>
        <p:txBody>
          <a:bodyPr wrap="square" lIns="0" tIns="0" rIns="0" bIns="0" rtlCol="0" anchor="ctr"/>
          <a:lstStyle/>
          <a:p>
            <a:pPr indent="0" marL="0">
              <a:lnSpc>
                <a:spcPts val="1700"/>
              </a:lnSpc>
              <a:buNone/>
            </a:pPr>
            <a:r>
              <a:rPr lang="en-US" sz="1300" dirty="0">
                <a:solidFill>
                  <a:srgbClr val="2B3A42"/>
                </a:solidFill>
                <a:latin typeface="Calibri" pitchFamily="34" charset="0"/>
                <a:ea typeface="Calibri" pitchFamily="34" charset="-122"/>
                <a:cs typeface="Calibri" pitchFamily="34" charset="-120"/>
              </a:rPr>
              <a:t>The first two live closes take longer. Book a three to five day extension, pre-book the auditors, run a close war room.</a:t>
            </a:r>
            <a:endParaRPr lang="en-US" sz="1300" dirty="0"/>
          </a:p>
        </p:txBody>
      </p:sp>
      <p:sp>
        <p:nvSpPr>
          <p:cNvPr id="20" name="Shape 18"/>
          <p:cNvSpPr/>
          <p:nvPr/>
        </p:nvSpPr>
        <p:spPr>
          <a:xfrm>
            <a:off x="1261872" y="4197096"/>
            <a:ext cx="10332720" cy="9144"/>
          </a:xfrm>
          <a:prstGeom prst="rect">
            <a:avLst/>
          </a:prstGeom>
          <a:solidFill>
            <a:srgbClr val="D6DDE0"/>
          </a:solidFill>
          <a:ln/>
        </p:spPr>
      </p:sp>
      <p:sp>
        <p:nvSpPr>
          <p:cNvPr id="21" name="Shape 19"/>
          <p:cNvSpPr/>
          <p:nvPr/>
        </p:nvSpPr>
        <p:spPr>
          <a:xfrm>
            <a:off x="566928" y="4443984"/>
            <a:ext cx="475488" cy="475488"/>
          </a:xfrm>
          <a:prstGeom prst="ellipse">
            <a:avLst/>
          </a:prstGeom>
          <a:solidFill>
            <a:srgbClr val="2B3A42"/>
          </a:solidFill>
          <a:ln/>
        </p:spPr>
      </p:sp>
      <p:sp>
        <p:nvSpPr>
          <p:cNvPr id="22" name="Text 20"/>
          <p:cNvSpPr/>
          <p:nvPr/>
        </p:nvSpPr>
        <p:spPr>
          <a:xfrm>
            <a:off x="566928" y="444398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1261872" y="4389120"/>
            <a:ext cx="2377440" cy="292608"/>
          </a:xfrm>
          <a:prstGeom prst="rect">
            <a:avLst/>
          </a:prstGeom>
          <a:noFill/>
          <a:ln/>
        </p:spPr>
        <p:txBody>
          <a:bodyPr wrap="square" lIns="0" tIns="0" rIns="0" bIns="0" rtlCol="0" anchor="ctr"/>
          <a:lstStyle/>
          <a:p>
            <a:pPr indent="0" marL="0">
              <a:buNone/>
            </a:pPr>
            <a:r>
              <a:rPr lang="en-US" sz="1550" b="1" dirty="0">
                <a:solidFill>
                  <a:srgbClr val="C25E00"/>
                </a:solidFill>
                <a:latin typeface="Calibri" pitchFamily="34" charset="0"/>
                <a:ea typeface="Calibri" pitchFamily="34" charset="-122"/>
                <a:cs typeface="Calibri" pitchFamily="34" charset="-120"/>
              </a:rPr>
              <a:t>Keep a safety net</a:t>
            </a:r>
            <a:endParaRPr lang="en-US" sz="1550" dirty="0"/>
          </a:p>
        </p:txBody>
      </p:sp>
      <p:sp>
        <p:nvSpPr>
          <p:cNvPr id="24" name="Text 22"/>
          <p:cNvSpPr/>
          <p:nvPr/>
        </p:nvSpPr>
        <p:spPr>
          <a:xfrm>
            <a:off x="3749040" y="4389120"/>
            <a:ext cx="7863840" cy="566928"/>
          </a:xfrm>
          <a:prstGeom prst="rect">
            <a:avLst/>
          </a:prstGeom>
          <a:noFill/>
          <a:ln/>
        </p:spPr>
        <p:txBody>
          <a:bodyPr wrap="square" lIns="0" tIns="0" rIns="0" bIns="0" rtlCol="0" anchor="ctr"/>
          <a:lstStyle/>
          <a:p>
            <a:pPr indent="0" marL="0">
              <a:lnSpc>
                <a:spcPts val="1700"/>
              </a:lnSpc>
              <a:buNone/>
            </a:pPr>
            <a:r>
              <a:rPr lang="en-US" sz="1300" dirty="0">
                <a:solidFill>
                  <a:srgbClr val="2B3A42"/>
                </a:solidFill>
                <a:latin typeface="Calibri" pitchFamily="34" charset="0"/>
                <a:ea typeface="Calibri" pitchFamily="34" charset="-122"/>
                <a:cs typeface="Calibri" pitchFamily="34" charset="-120"/>
              </a:rPr>
              <a:t>Legacy stays open for one close cycle after Wave 1 for restatement, then goes read-only.</a:t>
            </a:r>
            <a:endParaRPr lang="en-US" sz="1300" dirty="0"/>
          </a:p>
        </p:txBody>
      </p:sp>
      <p:sp>
        <p:nvSpPr>
          <p:cNvPr id="25" name="Shape 23"/>
          <p:cNvSpPr/>
          <p:nvPr/>
        </p:nvSpPr>
        <p:spPr>
          <a:xfrm>
            <a:off x="1261872" y="5157216"/>
            <a:ext cx="10332720" cy="9144"/>
          </a:xfrm>
          <a:prstGeom prst="rect">
            <a:avLst/>
          </a:prstGeom>
          <a:solidFill>
            <a:srgbClr val="D6DDE0"/>
          </a:solidFill>
          <a:ln/>
        </p:spPr>
      </p:sp>
      <p:sp>
        <p:nvSpPr>
          <p:cNvPr id="26" name="Shape 24"/>
          <p:cNvSpPr/>
          <p:nvPr/>
        </p:nvSpPr>
        <p:spPr>
          <a:xfrm>
            <a:off x="566928" y="5404104"/>
            <a:ext cx="475488" cy="475488"/>
          </a:xfrm>
          <a:prstGeom prst="ellipse">
            <a:avLst/>
          </a:prstGeom>
          <a:solidFill>
            <a:srgbClr val="2B3A42"/>
          </a:solidFill>
          <a:ln/>
        </p:spPr>
      </p:sp>
      <p:sp>
        <p:nvSpPr>
          <p:cNvPr id="27" name="Text 25"/>
          <p:cNvSpPr/>
          <p:nvPr/>
        </p:nvSpPr>
        <p:spPr>
          <a:xfrm>
            <a:off x="566928" y="540410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p:nvPr/>
        </p:nvSpPr>
        <p:spPr>
          <a:xfrm>
            <a:off x="1261872" y="5349240"/>
            <a:ext cx="2377440" cy="292608"/>
          </a:xfrm>
          <a:prstGeom prst="rect">
            <a:avLst/>
          </a:prstGeom>
          <a:noFill/>
          <a:ln/>
        </p:spPr>
        <p:txBody>
          <a:bodyPr wrap="square" lIns="0" tIns="0" rIns="0" bIns="0" rtlCol="0" anchor="ctr"/>
          <a:lstStyle/>
          <a:p>
            <a:pPr indent="0" marL="0">
              <a:buNone/>
            </a:pPr>
            <a:r>
              <a:rPr lang="en-US" sz="1550" b="1" dirty="0">
                <a:solidFill>
                  <a:srgbClr val="C25E00"/>
                </a:solidFill>
                <a:latin typeface="Calibri" pitchFamily="34" charset="0"/>
                <a:ea typeface="Calibri" pitchFamily="34" charset="-122"/>
                <a:cs typeface="Calibri" pitchFamily="34" charset="-120"/>
              </a:rPr>
              <a:t>Treat it as a control</a:t>
            </a:r>
            <a:endParaRPr lang="en-US" sz="1550" dirty="0"/>
          </a:p>
        </p:txBody>
      </p:sp>
      <p:sp>
        <p:nvSpPr>
          <p:cNvPr id="29" name="Text 27"/>
          <p:cNvSpPr/>
          <p:nvPr/>
        </p:nvSpPr>
        <p:spPr>
          <a:xfrm>
            <a:off x="3749040" y="5349240"/>
            <a:ext cx="7863840" cy="566928"/>
          </a:xfrm>
          <a:prstGeom prst="rect">
            <a:avLst/>
          </a:prstGeom>
          <a:noFill/>
          <a:ln/>
        </p:spPr>
        <p:txBody>
          <a:bodyPr wrap="square" lIns="0" tIns="0" rIns="0" bIns="0" rtlCol="0" anchor="ctr"/>
          <a:lstStyle/>
          <a:p>
            <a:pPr indent="0" marL="0">
              <a:lnSpc>
                <a:spcPts val="1700"/>
              </a:lnSpc>
              <a:buNone/>
            </a:pPr>
            <a:r>
              <a:rPr lang="en-US" sz="1300" dirty="0">
                <a:solidFill>
                  <a:srgbClr val="2B3A42"/>
                </a:solidFill>
                <a:latin typeface="Calibri" pitchFamily="34" charset="0"/>
                <a:ea typeface="Calibri" pitchFamily="34" charset="-122"/>
                <a:cs typeface="Calibri" pitchFamily="34" charset="-120"/>
              </a:rPr>
              <a:t>Auditors engaged in M0-M2 on migration approach. The cutover is documented as a control event.</a:t>
            </a:r>
            <a:endParaRPr lang="en-US" sz="1300" dirty="0"/>
          </a:p>
        </p:txBody>
      </p:sp>
      <p:sp>
        <p:nvSpPr>
          <p:cNvPr id="30" name="Text 28"/>
          <p:cNvSpPr/>
          <p:nvPr/>
        </p:nvSpPr>
        <p:spPr>
          <a:xfrm>
            <a:off x="1261872" y="6263640"/>
            <a:ext cx="10332720" cy="365760"/>
          </a:xfrm>
          <a:prstGeom prst="rect">
            <a:avLst/>
          </a:prstGeom>
          <a:noFill/>
          <a:ln/>
        </p:spPr>
        <p:txBody>
          <a:bodyPr wrap="square" lIns="0" tIns="0" rIns="0" bIns="0" rtlCol="0" anchor="ctr"/>
          <a:lstStyle/>
          <a:p>
            <a:pPr indent="0" marL="0">
              <a:buNone/>
            </a:pPr>
            <a:r>
              <a:rPr lang="en-US" sz="1300" b="1" i="1" dirty="0">
                <a:solidFill>
                  <a:srgbClr val="2B3A42"/>
                </a:solidFill>
                <a:latin typeface="Calibri" pitchFamily="34" charset="0"/>
                <a:ea typeface="Calibri" pitchFamily="34" charset="-122"/>
                <a:cs typeface="Calibri" pitchFamily="34" charset="-120"/>
              </a:rPr>
              <a:t>The close is the one thing the Board will notice if we get it wrong. So it's the one thing we practice twice.</a:t>
            </a:r>
            <a:endParaRPr lang="en-US" sz="1300" dirty="0"/>
          </a:p>
        </p:txBody>
      </p:sp>
      <p:sp>
        <p:nvSpPr>
          <p:cNvPr id="31" name="Text 29"/>
          <p:cNvSpPr/>
          <p:nvPr/>
        </p:nvSpPr>
        <p:spPr>
          <a:xfrm>
            <a:off x="548640" y="6419088"/>
            <a:ext cx="5486400" cy="228600"/>
          </a:xfrm>
          <a:prstGeom prst="rect">
            <a:avLst/>
          </a:prstGeom>
          <a:noFill/>
          <a:ln/>
        </p:spPr>
        <p:txBody>
          <a:bodyPr wrap="square" lIns="0" tIns="0" rIns="0" bIns="0" rtlCol="0" anchor="ctr"/>
          <a:lstStyle/>
          <a:p>
            <a:pPr indent="0" marL="0">
              <a:buNone/>
            </a:pPr>
            <a:r>
              <a:rPr lang="en-US" sz="850" dirty="0">
                <a:solidFill>
                  <a:srgbClr val="6B7A82"/>
                </a:solidFill>
                <a:latin typeface="Calibri" pitchFamily="34" charset="0"/>
                <a:ea typeface="Calibri" pitchFamily="34" charset="-122"/>
                <a:cs typeface="Calibri" pitchFamily="34" charset="-120"/>
              </a:rPr>
              <a:t>AMG ERP Transformation  |  Confidential</a:t>
            </a:r>
            <a:endParaRPr lang="en-US" sz="850" dirty="0"/>
          </a:p>
        </p:txBody>
      </p:sp>
      <p:sp>
        <p:nvSpPr>
          <p:cNvPr id="32" name="Text 30"/>
          <p:cNvSpPr/>
          <p:nvPr/>
        </p:nvSpPr>
        <p:spPr>
          <a:xfrm>
            <a:off x="11064240" y="6419088"/>
            <a:ext cx="548640" cy="228600"/>
          </a:xfrm>
          <a:prstGeom prst="rect">
            <a:avLst/>
          </a:prstGeom>
          <a:noFill/>
          <a:ln/>
        </p:spPr>
        <p:txBody>
          <a:bodyPr wrap="square" lIns="0" tIns="0" rIns="0" bIns="0" rtlCol="0" anchor="ctr"/>
          <a:lstStyle/>
          <a:p>
            <a:pPr algn="r" indent="0" marL="0">
              <a:buNone/>
            </a:pPr>
            <a:r>
              <a:rPr lang="en-US" sz="850" dirty="0">
                <a:solidFill>
                  <a:srgbClr val="6B7A82"/>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62C"/>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C25E00"/>
          </a:solidFill>
          <a:ln/>
        </p:spPr>
      </p:sp>
      <p:sp>
        <p:nvSpPr>
          <p:cNvPr id="3" name="Text 1"/>
          <p:cNvSpPr/>
          <p:nvPr/>
        </p:nvSpPr>
        <p:spPr>
          <a:xfrm>
            <a:off x="822960" y="640080"/>
            <a:ext cx="1060704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we need from you</a:t>
            </a:r>
            <a:endParaRPr lang="en-US" sz="3400" dirty="0"/>
          </a:p>
        </p:txBody>
      </p:sp>
      <p:sp>
        <p:nvSpPr>
          <p:cNvPr id="4" name="Text 2"/>
          <p:cNvSpPr/>
          <p:nvPr/>
        </p:nvSpPr>
        <p:spPr>
          <a:xfrm>
            <a:off x="822960" y="1234440"/>
            <a:ext cx="10607040" cy="320040"/>
          </a:xfrm>
          <a:prstGeom prst="rect">
            <a:avLst/>
          </a:prstGeom>
          <a:noFill/>
          <a:ln/>
        </p:spPr>
        <p:txBody>
          <a:bodyPr wrap="square" lIns="0" tIns="0" rIns="0" bIns="0" rtlCol="0" anchor="ctr"/>
          <a:lstStyle/>
          <a:p>
            <a:pPr indent="0" marL="0">
              <a:buNone/>
            </a:pPr>
            <a:r>
              <a:rPr lang="en-US" sz="1450" i="1" dirty="0">
                <a:solidFill>
                  <a:srgbClr val="6B7A82"/>
                </a:solidFill>
                <a:latin typeface="Calibri" pitchFamily="34" charset="0"/>
                <a:ea typeface="Calibri" pitchFamily="34" charset="-122"/>
                <a:cs typeface="Calibri" pitchFamily="34" charset="-120"/>
              </a:rPr>
              <a:t>Four decisions. None of them are technology decisions.</a:t>
            </a:r>
            <a:endParaRPr lang="en-US" sz="1450" dirty="0"/>
          </a:p>
        </p:txBody>
      </p:sp>
      <p:sp>
        <p:nvSpPr>
          <p:cNvPr id="5" name="Shape 3"/>
          <p:cNvSpPr/>
          <p:nvPr/>
        </p:nvSpPr>
        <p:spPr>
          <a:xfrm>
            <a:off x="822960" y="1920240"/>
            <a:ext cx="5120640" cy="1600200"/>
          </a:xfrm>
          <a:prstGeom prst="roundRect">
            <a:avLst>
              <a:gd name="adj" fmla="val 3429"/>
            </a:avLst>
          </a:prstGeom>
          <a:solidFill>
            <a:srgbClr val="233038"/>
          </a:solidFill>
          <a:ln w="9525">
            <a:solidFill>
              <a:srgbClr val="3A4A54"/>
            </a:solidFill>
            <a:prstDash val="solid"/>
          </a:ln>
        </p:spPr>
      </p:sp>
      <p:sp>
        <p:nvSpPr>
          <p:cNvPr id="6" name="Text 4"/>
          <p:cNvSpPr/>
          <p:nvPr/>
        </p:nvSpPr>
        <p:spPr>
          <a:xfrm>
            <a:off x="1097280" y="2103120"/>
            <a:ext cx="457200" cy="365760"/>
          </a:xfrm>
          <a:prstGeom prst="rect">
            <a:avLst/>
          </a:prstGeom>
          <a:noFill/>
          <a:ln/>
        </p:spPr>
        <p:txBody>
          <a:bodyPr wrap="square" lIns="0" tIns="0" rIns="0" bIns="0" rtlCol="0" anchor="ctr"/>
          <a:lstStyle/>
          <a:p>
            <a:pPr indent="0" marL="0">
              <a:buNone/>
            </a:pPr>
            <a:r>
              <a:rPr lang="en-US" sz="2600" b="1" dirty="0">
                <a:solidFill>
                  <a:srgbClr val="C25E00"/>
                </a:solidFill>
                <a:latin typeface="Cambria" pitchFamily="34" charset="0"/>
                <a:ea typeface="Cambria" pitchFamily="34" charset="-122"/>
                <a:cs typeface="Cambria" pitchFamily="34" charset="-120"/>
              </a:rPr>
              <a:t>1</a:t>
            </a:r>
            <a:endParaRPr lang="en-US" sz="2600" dirty="0"/>
          </a:p>
        </p:txBody>
      </p:sp>
      <p:sp>
        <p:nvSpPr>
          <p:cNvPr id="7" name="Text 5"/>
          <p:cNvSpPr/>
          <p:nvPr/>
        </p:nvSpPr>
        <p:spPr>
          <a:xfrm>
            <a:off x="1600200" y="2103120"/>
            <a:ext cx="41148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sponsor who can say no</a:t>
            </a:r>
            <a:endParaRPr lang="en-US" sz="1600" dirty="0"/>
          </a:p>
        </p:txBody>
      </p:sp>
      <p:sp>
        <p:nvSpPr>
          <p:cNvPr id="8" name="Text 6"/>
          <p:cNvSpPr/>
          <p:nvPr/>
        </p:nvSpPr>
        <p:spPr>
          <a:xfrm>
            <a:off x="1600200" y="2542032"/>
            <a:ext cx="4114800" cy="822960"/>
          </a:xfrm>
          <a:prstGeom prst="rect">
            <a:avLst/>
          </a:prstGeom>
          <a:noFill/>
          <a:ln/>
        </p:spPr>
        <p:txBody>
          <a:bodyPr wrap="square" lIns="0" tIns="0" rIns="0" bIns="0" rtlCol="0" anchor="t"/>
          <a:lstStyle/>
          <a:p>
            <a:pPr indent="0" marL="0">
              <a:lnSpc>
                <a:spcPts val="1700"/>
              </a:lnSpc>
              <a:buNone/>
            </a:pPr>
            <a:r>
              <a:rPr lang="en-US" sz="1250" dirty="0">
                <a:solidFill>
                  <a:srgbClr val="AFBCC4"/>
                </a:solidFill>
                <a:latin typeface="Calibri" pitchFamily="34" charset="0"/>
                <a:ea typeface="Calibri" pitchFamily="34" charset="-122"/>
                <a:cs typeface="Calibri" pitchFamily="34" charset="-120"/>
              </a:rPr>
              <a:t>CFO or COO. Not IT. Someone with the standing to refuse a request from a peer.</a:t>
            </a:r>
            <a:endParaRPr lang="en-US" sz="1250" dirty="0"/>
          </a:p>
        </p:txBody>
      </p:sp>
      <p:sp>
        <p:nvSpPr>
          <p:cNvPr id="9" name="Shape 7"/>
          <p:cNvSpPr/>
          <p:nvPr/>
        </p:nvSpPr>
        <p:spPr>
          <a:xfrm>
            <a:off x="6309360" y="1920240"/>
            <a:ext cx="5120640" cy="1600200"/>
          </a:xfrm>
          <a:prstGeom prst="roundRect">
            <a:avLst>
              <a:gd name="adj" fmla="val 3429"/>
            </a:avLst>
          </a:prstGeom>
          <a:solidFill>
            <a:srgbClr val="233038"/>
          </a:solidFill>
          <a:ln w="9525">
            <a:solidFill>
              <a:srgbClr val="3A4A54"/>
            </a:solidFill>
            <a:prstDash val="solid"/>
          </a:ln>
        </p:spPr>
      </p:sp>
      <p:sp>
        <p:nvSpPr>
          <p:cNvPr id="10" name="Text 8"/>
          <p:cNvSpPr/>
          <p:nvPr/>
        </p:nvSpPr>
        <p:spPr>
          <a:xfrm>
            <a:off x="6583680" y="2103120"/>
            <a:ext cx="457200" cy="365760"/>
          </a:xfrm>
          <a:prstGeom prst="rect">
            <a:avLst/>
          </a:prstGeom>
          <a:noFill/>
          <a:ln/>
        </p:spPr>
        <p:txBody>
          <a:bodyPr wrap="square" lIns="0" tIns="0" rIns="0" bIns="0" rtlCol="0" anchor="ctr"/>
          <a:lstStyle/>
          <a:p>
            <a:pPr indent="0" marL="0">
              <a:buNone/>
            </a:pPr>
            <a:r>
              <a:rPr lang="en-US" sz="2600" b="1" dirty="0">
                <a:solidFill>
                  <a:srgbClr val="C25E00"/>
                </a:solidFill>
                <a:latin typeface="Cambria" pitchFamily="34" charset="0"/>
                <a:ea typeface="Cambria" pitchFamily="34" charset="-122"/>
                <a:cs typeface="Cambria" pitchFamily="34" charset="-120"/>
              </a:rPr>
              <a:t>2</a:t>
            </a:r>
            <a:endParaRPr lang="en-US" sz="2600" dirty="0"/>
          </a:p>
        </p:txBody>
      </p:sp>
      <p:sp>
        <p:nvSpPr>
          <p:cNvPr id="11" name="Text 9"/>
          <p:cNvSpPr/>
          <p:nvPr/>
        </p:nvSpPr>
        <p:spPr>
          <a:xfrm>
            <a:off x="7086600" y="2103120"/>
            <a:ext cx="41148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Six SMEs, funded and ring-fenced</a:t>
            </a:r>
            <a:endParaRPr lang="en-US" sz="1600" dirty="0"/>
          </a:p>
        </p:txBody>
      </p:sp>
      <p:sp>
        <p:nvSpPr>
          <p:cNvPr id="12" name="Text 10"/>
          <p:cNvSpPr/>
          <p:nvPr/>
        </p:nvSpPr>
        <p:spPr>
          <a:xfrm>
            <a:off x="7086600" y="2542032"/>
            <a:ext cx="4114800" cy="822960"/>
          </a:xfrm>
          <a:prstGeom prst="rect">
            <a:avLst/>
          </a:prstGeom>
          <a:noFill/>
          <a:ln/>
        </p:spPr>
        <p:txBody>
          <a:bodyPr wrap="square" lIns="0" tIns="0" rIns="0" bIns="0" rtlCol="0" anchor="t"/>
          <a:lstStyle/>
          <a:p>
            <a:pPr indent="0" marL="0">
              <a:lnSpc>
                <a:spcPts val="1700"/>
              </a:lnSpc>
              <a:buNone/>
            </a:pPr>
            <a:r>
              <a:rPr lang="en-US" sz="1250" dirty="0">
                <a:solidFill>
                  <a:srgbClr val="AFBCC4"/>
                </a:solidFill>
                <a:latin typeface="Calibri" pitchFamily="34" charset="0"/>
                <a:ea typeface="Calibri" pitchFamily="34" charset="-122"/>
                <a:cs typeface="Calibri" pitchFamily="34" charset="-120"/>
              </a:rPr>
              <a:t>Named, backfilled, from month 0. This is the constraint that actually decides the date.</a:t>
            </a:r>
            <a:endParaRPr lang="en-US" sz="1250" dirty="0"/>
          </a:p>
        </p:txBody>
      </p:sp>
      <p:sp>
        <p:nvSpPr>
          <p:cNvPr id="13" name="Shape 11"/>
          <p:cNvSpPr/>
          <p:nvPr/>
        </p:nvSpPr>
        <p:spPr>
          <a:xfrm>
            <a:off x="822960" y="3886200"/>
            <a:ext cx="5120640" cy="1600200"/>
          </a:xfrm>
          <a:prstGeom prst="roundRect">
            <a:avLst>
              <a:gd name="adj" fmla="val 3429"/>
            </a:avLst>
          </a:prstGeom>
          <a:solidFill>
            <a:srgbClr val="233038"/>
          </a:solidFill>
          <a:ln w="9525">
            <a:solidFill>
              <a:srgbClr val="3A4A54"/>
            </a:solidFill>
            <a:prstDash val="solid"/>
          </a:ln>
        </p:spPr>
      </p:sp>
      <p:sp>
        <p:nvSpPr>
          <p:cNvPr id="14" name="Text 12"/>
          <p:cNvSpPr/>
          <p:nvPr/>
        </p:nvSpPr>
        <p:spPr>
          <a:xfrm>
            <a:off x="1097280" y="4069080"/>
            <a:ext cx="457200" cy="365760"/>
          </a:xfrm>
          <a:prstGeom prst="rect">
            <a:avLst/>
          </a:prstGeom>
          <a:noFill/>
          <a:ln/>
        </p:spPr>
        <p:txBody>
          <a:bodyPr wrap="square" lIns="0" tIns="0" rIns="0" bIns="0" rtlCol="0" anchor="ctr"/>
          <a:lstStyle/>
          <a:p>
            <a:pPr indent="0" marL="0">
              <a:buNone/>
            </a:pPr>
            <a:r>
              <a:rPr lang="en-US" sz="2600" b="1" dirty="0">
                <a:solidFill>
                  <a:srgbClr val="C25E00"/>
                </a:solidFill>
                <a:latin typeface="Cambria" pitchFamily="34" charset="0"/>
                <a:ea typeface="Cambria" pitchFamily="34" charset="-122"/>
                <a:cs typeface="Cambria" pitchFamily="34" charset="-120"/>
              </a:rPr>
              <a:t>3</a:t>
            </a:r>
            <a:endParaRPr lang="en-US" sz="2600" dirty="0"/>
          </a:p>
        </p:txBody>
      </p:sp>
      <p:sp>
        <p:nvSpPr>
          <p:cNvPr id="15" name="Text 13"/>
          <p:cNvSpPr/>
          <p:nvPr/>
        </p:nvSpPr>
        <p:spPr>
          <a:xfrm>
            <a:off x="1600200" y="4069080"/>
            <a:ext cx="41148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Date fixed, scope variable</a:t>
            </a:r>
            <a:endParaRPr lang="en-US" sz="1600" dirty="0"/>
          </a:p>
        </p:txBody>
      </p:sp>
      <p:sp>
        <p:nvSpPr>
          <p:cNvPr id="16" name="Text 14"/>
          <p:cNvSpPr/>
          <p:nvPr/>
        </p:nvSpPr>
        <p:spPr>
          <a:xfrm>
            <a:off x="1600200" y="4507992"/>
            <a:ext cx="4114800" cy="822960"/>
          </a:xfrm>
          <a:prstGeom prst="rect">
            <a:avLst/>
          </a:prstGeom>
          <a:noFill/>
          <a:ln/>
        </p:spPr>
        <p:txBody>
          <a:bodyPr wrap="square" lIns="0" tIns="0" rIns="0" bIns="0" rtlCol="0" anchor="t"/>
          <a:lstStyle/>
          <a:p>
            <a:pPr indent="0" marL="0">
              <a:lnSpc>
                <a:spcPts val="1700"/>
              </a:lnSpc>
              <a:buNone/>
            </a:pPr>
            <a:r>
              <a:rPr lang="en-US" sz="1250" dirty="0">
                <a:solidFill>
                  <a:srgbClr val="AFBCC4"/>
                </a:solidFill>
                <a:latin typeface="Calibri" pitchFamily="34" charset="0"/>
                <a:ea typeface="Calibri" pitchFamily="34" charset="-122"/>
                <a:cs typeface="Calibri" pitchFamily="34" charset="-120"/>
              </a:rPr>
              <a:t>If both are fixed, quality becomes the variable. Quality failures at cutover stop shipments.</a:t>
            </a:r>
            <a:endParaRPr lang="en-US" sz="1250" dirty="0"/>
          </a:p>
        </p:txBody>
      </p:sp>
      <p:sp>
        <p:nvSpPr>
          <p:cNvPr id="17" name="Shape 15"/>
          <p:cNvSpPr/>
          <p:nvPr/>
        </p:nvSpPr>
        <p:spPr>
          <a:xfrm>
            <a:off x="6309360" y="3886200"/>
            <a:ext cx="5120640" cy="1600200"/>
          </a:xfrm>
          <a:prstGeom prst="roundRect">
            <a:avLst>
              <a:gd name="adj" fmla="val 3429"/>
            </a:avLst>
          </a:prstGeom>
          <a:solidFill>
            <a:srgbClr val="233038"/>
          </a:solidFill>
          <a:ln w="9525">
            <a:solidFill>
              <a:srgbClr val="3A4A54"/>
            </a:solidFill>
            <a:prstDash val="solid"/>
          </a:ln>
        </p:spPr>
      </p:sp>
      <p:sp>
        <p:nvSpPr>
          <p:cNvPr id="18" name="Text 16"/>
          <p:cNvSpPr/>
          <p:nvPr/>
        </p:nvSpPr>
        <p:spPr>
          <a:xfrm>
            <a:off x="6583680" y="4069080"/>
            <a:ext cx="457200" cy="365760"/>
          </a:xfrm>
          <a:prstGeom prst="rect">
            <a:avLst/>
          </a:prstGeom>
          <a:noFill/>
          <a:ln/>
        </p:spPr>
        <p:txBody>
          <a:bodyPr wrap="square" lIns="0" tIns="0" rIns="0" bIns="0" rtlCol="0" anchor="ctr"/>
          <a:lstStyle/>
          <a:p>
            <a:pPr indent="0" marL="0">
              <a:buNone/>
            </a:pPr>
            <a:r>
              <a:rPr lang="en-US" sz="2600" b="1" dirty="0">
                <a:solidFill>
                  <a:srgbClr val="C25E00"/>
                </a:solidFill>
                <a:latin typeface="Cambria" pitchFamily="34" charset="0"/>
                <a:ea typeface="Cambria" pitchFamily="34" charset="-122"/>
                <a:cs typeface="Cambria" pitchFamily="34" charset="-120"/>
              </a:rPr>
              <a:t>4</a:t>
            </a:r>
            <a:endParaRPr lang="en-US" sz="2600" dirty="0"/>
          </a:p>
        </p:txBody>
      </p:sp>
      <p:sp>
        <p:nvSpPr>
          <p:cNvPr id="19" name="Text 17"/>
          <p:cNvSpPr/>
          <p:nvPr/>
        </p:nvSpPr>
        <p:spPr>
          <a:xfrm>
            <a:off x="7086600" y="4069080"/>
            <a:ext cx="41148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An owner for margin</a:t>
            </a:r>
            <a:endParaRPr lang="en-US" sz="1600" dirty="0"/>
          </a:p>
        </p:txBody>
      </p:sp>
      <p:sp>
        <p:nvSpPr>
          <p:cNvPr id="20" name="Text 18"/>
          <p:cNvSpPr/>
          <p:nvPr/>
        </p:nvSpPr>
        <p:spPr>
          <a:xfrm>
            <a:off x="7086600" y="4507992"/>
            <a:ext cx="4114800" cy="822960"/>
          </a:xfrm>
          <a:prstGeom prst="rect">
            <a:avLst/>
          </a:prstGeom>
          <a:noFill/>
          <a:ln/>
        </p:spPr>
        <p:txBody>
          <a:bodyPr wrap="square" lIns="0" tIns="0" rIns="0" bIns="0" rtlCol="0" anchor="t"/>
          <a:lstStyle/>
          <a:p>
            <a:pPr indent="0" marL="0">
              <a:lnSpc>
                <a:spcPts val="1700"/>
              </a:lnSpc>
              <a:buNone/>
            </a:pPr>
            <a:r>
              <a:rPr lang="en-US" sz="1250" dirty="0">
                <a:solidFill>
                  <a:srgbClr val="AFBCC4"/>
                </a:solidFill>
                <a:latin typeface="Calibri" pitchFamily="34" charset="0"/>
                <a:ea typeface="Calibri" pitchFamily="34" charset="-122"/>
                <a:cs typeface="Calibri" pitchFamily="34" charset="-120"/>
              </a:rPr>
              <a:t>Not a system. A person. Named this quarter, before the ERP arrives.</a:t>
            </a:r>
            <a:endParaRPr lang="en-US" sz="1250" dirty="0"/>
          </a:p>
        </p:txBody>
      </p:sp>
      <p:sp>
        <p:nvSpPr>
          <p:cNvPr id="21" name="Text 19"/>
          <p:cNvSpPr/>
          <p:nvPr/>
        </p:nvSpPr>
        <p:spPr>
          <a:xfrm>
            <a:off x="822960" y="5989320"/>
            <a:ext cx="10607040" cy="457200"/>
          </a:xfrm>
          <a:prstGeom prst="rect">
            <a:avLst/>
          </a:prstGeom>
          <a:noFill/>
          <a:ln/>
        </p:spPr>
        <p:txBody>
          <a:bodyPr wrap="square" lIns="0" tIns="0" rIns="0" bIns="0" rtlCol="0" anchor="ctr"/>
          <a:lstStyle/>
          <a:p>
            <a:pPr indent="0" marL="0">
              <a:buNone/>
            </a:pPr>
            <a:r>
              <a:rPr lang="en-US" sz="2200" b="1" i="1" dirty="0">
                <a:solidFill>
                  <a:srgbClr val="C25E00"/>
                </a:solidFill>
                <a:latin typeface="Cambria" pitchFamily="34" charset="0"/>
                <a:ea typeface="Cambria" pitchFamily="34" charset="-122"/>
                <a:cs typeface="Cambria" pitchFamily="34" charset="-120"/>
              </a:rPr>
              <a:t>Hold the date. Cut the scope. Own the margin.</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AMG ERP Transformation</dc:title>
  <dc:subject>PptxGenJS Presentation</dc:subject>
  <dc:creator>Program Advisory</dc:creator>
  <cp:lastModifiedBy>Program Advisory</cp:lastModifiedBy>
  <cp:revision>1</cp:revision>
  <dcterms:created xsi:type="dcterms:W3CDTF">2026-07-17T21:30:29Z</dcterms:created>
  <dcterms:modified xsi:type="dcterms:W3CDTF">2026-07-17T21:30:29Z</dcterms:modified>
</cp:coreProperties>
</file>